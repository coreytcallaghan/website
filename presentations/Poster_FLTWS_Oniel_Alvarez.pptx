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51206400" cy="360267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B7977"/>
    <a:srgbClr val="DC77FF"/>
    <a:srgbClr val="F8766D"/>
    <a:srgbClr val="00BEC4"/>
    <a:srgbClr val="5EAF02"/>
    <a:srgbClr val="8BD9D2"/>
    <a:srgbClr val="183E8A"/>
    <a:srgbClr val="5BC9BF"/>
    <a:srgbClr val="266866"/>
    <a:srgbClr val="389A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892" autoAdjust="0"/>
  </p:normalViewPr>
  <p:slideViewPr>
    <p:cSldViewPr snapToGrid="0">
      <p:cViewPr varScale="1">
        <p:scale>
          <a:sx n="14" d="100"/>
          <a:sy n="14" d="100"/>
        </p:scale>
        <p:origin x="1632" y="20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C97A3B-3747-41D1-B66F-D09CB1B04C22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235075" y="1143000"/>
            <a:ext cx="43878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79DB3A-8B4E-44AE-A0D2-6C67AD6CF3B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357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79DB3A-8B4E-44AE-A0D2-6C67AD6CF3B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055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40480" y="5896043"/>
            <a:ext cx="43525440" cy="12542638"/>
          </a:xfrm>
        </p:spPr>
        <p:txBody>
          <a:bodyPr anchor="b"/>
          <a:lstStyle>
            <a:lvl1pPr algn="ctr">
              <a:defRPr sz="31519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00800" y="18922373"/>
            <a:ext cx="38404800" cy="8698116"/>
          </a:xfrm>
        </p:spPr>
        <p:txBody>
          <a:bodyPr/>
          <a:lstStyle>
            <a:lvl1pPr marL="0" indent="0" algn="ctr">
              <a:buNone/>
              <a:defRPr sz="12608"/>
            </a:lvl1pPr>
            <a:lvl2pPr marL="2401763" indent="0" algn="ctr">
              <a:buNone/>
              <a:defRPr sz="10506"/>
            </a:lvl2pPr>
            <a:lvl3pPr marL="4803526" indent="0" algn="ctr">
              <a:buNone/>
              <a:defRPr sz="9456"/>
            </a:lvl3pPr>
            <a:lvl4pPr marL="7205289" indent="0" algn="ctr">
              <a:buNone/>
              <a:defRPr sz="8405"/>
            </a:lvl4pPr>
            <a:lvl5pPr marL="9607052" indent="0" algn="ctr">
              <a:buNone/>
              <a:defRPr sz="8405"/>
            </a:lvl5pPr>
            <a:lvl6pPr marL="12008815" indent="0" algn="ctr">
              <a:buNone/>
              <a:defRPr sz="8405"/>
            </a:lvl6pPr>
            <a:lvl7pPr marL="14410578" indent="0" algn="ctr">
              <a:buNone/>
              <a:defRPr sz="8405"/>
            </a:lvl7pPr>
            <a:lvl8pPr marL="16812341" indent="0" algn="ctr">
              <a:buNone/>
              <a:defRPr sz="8405"/>
            </a:lvl8pPr>
            <a:lvl9pPr marL="19214104" indent="0" algn="ctr">
              <a:buNone/>
              <a:defRPr sz="8405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C37C9-BDD3-4AFC-B1DB-52FFBE625B5E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BD779-C492-4EC7-ABC5-D97A09794B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544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C37C9-BDD3-4AFC-B1DB-52FFBE625B5E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BD779-C492-4EC7-ABC5-D97A09794B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698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3773" y="8981673"/>
            <a:ext cx="44165520" cy="14986114"/>
          </a:xfrm>
        </p:spPr>
        <p:txBody>
          <a:bodyPr anchor="b"/>
          <a:lstStyle>
            <a:lvl1pPr>
              <a:defRPr sz="31519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93773" y="24109562"/>
            <a:ext cx="44165520" cy="7880843"/>
          </a:xfrm>
        </p:spPr>
        <p:txBody>
          <a:bodyPr/>
          <a:lstStyle>
            <a:lvl1pPr marL="0" indent="0">
              <a:buNone/>
              <a:defRPr sz="12608">
                <a:solidFill>
                  <a:schemeClr val="tx1"/>
                </a:solidFill>
              </a:defRPr>
            </a:lvl1pPr>
            <a:lvl2pPr marL="2401763" indent="0">
              <a:buNone/>
              <a:defRPr sz="10506">
                <a:solidFill>
                  <a:schemeClr val="tx1">
                    <a:tint val="75000"/>
                  </a:schemeClr>
                </a:solidFill>
              </a:defRPr>
            </a:lvl2pPr>
            <a:lvl3pPr marL="4803526" indent="0">
              <a:buNone/>
              <a:defRPr sz="9456">
                <a:solidFill>
                  <a:schemeClr val="tx1">
                    <a:tint val="75000"/>
                  </a:schemeClr>
                </a:solidFill>
              </a:defRPr>
            </a:lvl3pPr>
            <a:lvl4pPr marL="7205289" indent="0">
              <a:buNone/>
              <a:defRPr sz="8405">
                <a:solidFill>
                  <a:schemeClr val="tx1">
                    <a:tint val="75000"/>
                  </a:schemeClr>
                </a:solidFill>
              </a:defRPr>
            </a:lvl4pPr>
            <a:lvl5pPr marL="9607052" indent="0">
              <a:buNone/>
              <a:defRPr sz="8405">
                <a:solidFill>
                  <a:schemeClr val="tx1">
                    <a:tint val="75000"/>
                  </a:schemeClr>
                </a:solidFill>
              </a:defRPr>
            </a:lvl5pPr>
            <a:lvl6pPr marL="12008815" indent="0">
              <a:buNone/>
              <a:defRPr sz="8405">
                <a:solidFill>
                  <a:schemeClr val="tx1">
                    <a:tint val="75000"/>
                  </a:schemeClr>
                </a:solidFill>
              </a:defRPr>
            </a:lvl6pPr>
            <a:lvl7pPr marL="14410578" indent="0">
              <a:buNone/>
              <a:defRPr sz="8405">
                <a:solidFill>
                  <a:schemeClr val="tx1">
                    <a:tint val="75000"/>
                  </a:schemeClr>
                </a:solidFill>
              </a:defRPr>
            </a:lvl7pPr>
            <a:lvl8pPr marL="16812341" indent="0">
              <a:buNone/>
              <a:defRPr sz="8405">
                <a:solidFill>
                  <a:schemeClr val="tx1">
                    <a:tint val="75000"/>
                  </a:schemeClr>
                </a:solidFill>
              </a:defRPr>
            </a:lvl8pPr>
            <a:lvl9pPr marL="19214104" indent="0">
              <a:buNone/>
              <a:defRPr sz="840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C37C9-BDD3-4AFC-B1DB-52FFBE625B5E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BD779-C492-4EC7-ABC5-D97A09794B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230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20440" y="9590448"/>
            <a:ext cx="21762720" cy="228586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923240" y="9590448"/>
            <a:ext cx="21762720" cy="228586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C37C9-BDD3-4AFC-B1DB-52FFBE625B5E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BD779-C492-4EC7-ABC5-D97A09794B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300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0" y="1918097"/>
            <a:ext cx="44165520" cy="696350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7115" y="8831554"/>
            <a:ext cx="21662704" cy="4328208"/>
          </a:xfrm>
        </p:spPr>
        <p:txBody>
          <a:bodyPr anchor="b"/>
          <a:lstStyle>
            <a:lvl1pPr marL="0" indent="0">
              <a:buNone/>
              <a:defRPr sz="12608" b="1"/>
            </a:lvl1pPr>
            <a:lvl2pPr marL="2401763" indent="0">
              <a:buNone/>
              <a:defRPr sz="10506" b="1"/>
            </a:lvl2pPr>
            <a:lvl3pPr marL="4803526" indent="0">
              <a:buNone/>
              <a:defRPr sz="9456" b="1"/>
            </a:lvl3pPr>
            <a:lvl4pPr marL="7205289" indent="0">
              <a:buNone/>
              <a:defRPr sz="8405" b="1"/>
            </a:lvl4pPr>
            <a:lvl5pPr marL="9607052" indent="0">
              <a:buNone/>
              <a:defRPr sz="8405" b="1"/>
            </a:lvl5pPr>
            <a:lvl6pPr marL="12008815" indent="0">
              <a:buNone/>
              <a:defRPr sz="8405" b="1"/>
            </a:lvl6pPr>
            <a:lvl7pPr marL="14410578" indent="0">
              <a:buNone/>
              <a:defRPr sz="8405" b="1"/>
            </a:lvl7pPr>
            <a:lvl8pPr marL="16812341" indent="0">
              <a:buNone/>
              <a:defRPr sz="8405" b="1"/>
            </a:lvl8pPr>
            <a:lvl9pPr marL="19214104" indent="0">
              <a:buNone/>
              <a:defRPr sz="8405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27115" y="13159762"/>
            <a:ext cx="21662704" cy="1935602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923243" y="8831554"/>
            <a:ext cx="21769390" cy="4328208"/>
          </a:xfrm>
        </p:spPr>
        <p:txBody>
          <a:bodyPr anchor="b"/>
          <a:lstStyle>
            <a:lvl1pPr marL="0" indent="0">
              <a:buNone/>
              <a:defRPr sz="12608" b="1"/>
            </a:lvl1pPr>
            <a:lvl2pPr marL="2401763" indent="0">
              <a:buNone/>
              <a:defRPr sz="10506" b="1"/>
            </a:lvl2pPr>
            <a:lvl3pPr marL="4803526" indent="0">
              <a:buNone/>
              <a:defRPr sz="9456" b="1"/>
            </a:lvl3pPr>
            <a:lvl4pPr marL="7205289" indent="0">
              <a:buNone/>
              <a:defRPr sz="8405" b="1"/>
            </a:lvl4pPr>
            <a:lvl5pPr marL="9607052" indent="0">
              <a:buNone/>
              <a:defRPr sz="8405" b="1"/>
            </a:lvl5pPr>
            <a:lvl6pPr marL="12008815" indent="0">
              <a:buNone/>
              <a:defRPr sz="8405" b="1"/>
            </a:lvl6pPr>
            <a:lvl7pPr marL="14410578" indent="0">
              <a:buNone/>
              <a:defRPr sz="8405" b="1"/>
            </a:lvl7pPr>
            <a:lvl8pPr marL="16812341" indent="0">
              <a:buNone/>
              <a:defRPr sz="8405" b="1"/>
            </a:lvl8pPr>
            <a:lvl9pPr marL="19214104" indent="0">
              <a:buNone/>
              <a:defRPr sz="8405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923243" y="13159762"/>
            <a:ext cx="21769390" cy="1935602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C37C9-BDD3-4AFC-B1DB-52FFBE625B5E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BD779-C492-4EC7-ABC5-D97A09794B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618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C37C9-BDD3-4AFC-B1DB-52FFBE625B5E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BD779-C492-4EC7-ABC5-D97A09794B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81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C37C9-BDD3-4AFC-B1DB-52FFBE625B5E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BD779-C492-4EC7-ABC5-D97A09794B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93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0" y="2401782"/>
            <a:ext cx="16515397" cy="8406236"/>
          </a:xfrm>
        </p:spPr>
        <p:txBody>
          <a:bodyPr anchor="b"/>
          <a:lstStyle>
            <a:lvl1pPr>
              <a:defRPr sz="1681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69390" y="5187189"/>
            <a:ext cx="25923240" cy="25602325"/>
          </a:xfrm>
        </p:spPr>
        <p:txBody>
          <a:bodyPr/>
          <a:lstStyle>
            <a:lvl1pPr>
              <a:defRPr sz="16810"/>
            </a:lvl1pPr>
            <a:lvl2pPr>
              <a:defRPr sz="14709"/>
            </a:lvl2pPr>
            <a:lvl3pPr>
              <a:defRPr sz="12608"/>
            </a:lvl3pPr>
            <a:lvl4pPr>
              <a:defRPr sz="10506"/>
            </a:lvl4pPr>
            <a:lvl5pPr>
              <a:defRPr sz="10506"/>
            </a:lvl5pPr>
            <a:lvl6pPr>
              <a:defRPr sz="10506"/>
            </a:lvl6pPr>
            <a:lvl7pPr>
              <a:defRPr sz="10506"/>
            </a:lvl7pPr>
            <a:lvl8pPr>
              <a:defRPr sz="10506"/>
            </a:lvl8pPr>
            <a:lvl9pPr>
              <a:defRPr sz="10506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7110" y="10808018"/>
            <a:ext cx="16515397" cy="20023189"/>
          </a:xfrm>
        </p:spPr>
        <p:txBody>
          <a:bodyPr/>
          <a:lstStyle>
            <a:lvl1pPr marL="0" indent="0">
              <a:buNone/>
              <a:defRPr sz="8405"/>
            </a:lvl1pPr>
            <a:lvl2pPr marL="2401763" indent="0">
              <a:buNone/>
              <a:defRPr sz="7354"/>
            </a:lvl2pPr>
            <a:lvl3pPr marL="4803526" indent="0">
              <a:buNone/>
              <a:defRPr sz="6304"/>
            </a:lvl3pPr>
            <a:lvl4pPr marL="7205289" indent="0">
              <a:buNone/>
              <a:defRPr sz="5253"/>
            </a:lvl4pPr>
            <a:lvl5pPr marL="9607052" indent="0">
              <a:buNone/>
              <a:defRPr sz="5253"/>
            </a:lvl5pPr>
            <a:lvl6pPr marL="12008815" indent="0">
              <a:buNone/>
              <a:defRPr sz="5253"/>
            </a:lvl6pPr>
            <a:lvl7pPr marL="14410578" indent="0">
              <a:buNone/>
              <a:defRPr sz="5253"/>
            </a:lvl7pPr>
            <a:lvl8pPr marL="16812341" indent="0">
              <a:buNone/>
              <a:defRPr sz="5253"/>
            </a:lvl8pPr>
            <a:lvl9pPr marL="19214104" indent="0">
              <a:buNone/>
              <a:defRPr sz="525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C37C9-BDD3-4AFC-B1DB-52FFBE625B5E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BD779-C492-4EC7-ABC5-D97A09794B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979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0" y="2401782"/>
            <a:ext cx="16515397" cy="8406236"/>
          </a:xfrm>
        </p:spPr>
        <p:txBody>
          <a:bodyPr anchor="b"/>
          <a:lstStyle>
            <a:lvl1pPr>
              <a:defRPr sz="1681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769390" y="5187189"/>
            <a:ext cx="25923240" cy="25602325"/>
          </a:xfrm>
        </p:spPr>
        <p:txBody>
          <a:bodyPr anchor="t"/>
          <a:lstStyle>
            <a:lvl1pPr marL="0" indent="0">
              <a:buNone/>
              <a:defRPr sz="16810"/>
            </a:lvl1pPr>
            <a:lvl2pPr marL="2401763" indent="0">
              <a:buNone/>
              <a:defRPr sz="14709"/>
            </a:lvl2pPr>
            <a:lvl3pPr marL="4803526" indent="0">
              <a:buNone/>
              <a:defRPr sz="12608"/>
            </a:lvl3pPr>
            <a:lvl4pPr marL="7205289" indent="0">
              <a:buNone/>
              <a:defRPr sz="10506"/>
            </a:lvl4pPr>
            <a:lvl5pPr marL="9607052" indent="0">
              <a:buNone/>
              <a:defRPr sz="10506"/>
            </a:lvl5pPr>
            <a:lvl6pPr marL="12008815" indent="0">
              <a:buNone/>
              <a:defRPr sz="10506"/>
            </a:lvl6pPr>
            <a:lvl7pPr marL="14410578" indent="0">
              <a:buNone/>
              <a:defRPr sz="10506"/>
            </a:lvl7pPr>
            <a:lvl8pPr marL="16812341" indent="0">
              <a:buNone/>
              <a:defRPr sz="10506"/>
            </a:lvl8pPr>
            <a:lvl9pPr marL="19214104" indent="0">
              <a:buNone/>
              <a:defRPr sz="10506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7110" y="10808018"/>
            <a:ext cx="16515397" cy="20023189"/>
          </a:xfrm>
        </p:spPr>
        <p:txBody>
          <a:bodyPr/>
          <a:lstStyle>
            <a:lvl1pPr marL="0" indent="0">
              <a:buNone/>
              <a:defRPr sz="8405"/>
            </a:lvl1pPr>
            <a:lvl2pPr marL="2401763" indent="0">
              <a:buNone/>
              <a:defRPr sz="7354"/>
            </a:lvl2pPr>
            <a:lvl3pPr marL="4803526" indent="0">
              <a:buNone/>
              <a:defRPr sz="6304"/>
            </a:lvl3pPr>
            <a:lvl4pPr marL="7205289" indent="0">
              <a:buNone/>
              <a:defRPr sz="5253"/>
            </a:lvl4pPr>
            <a:lvl5pPr marL="9607052" indent="0">
              <a:buNone/>
              <a:defRPr sz="5253"/>
            </a:lvl5pPr>
            <a:lvl6pPr marL="12008815" indent="0">
              <a:buNone/>
              <a:defRPr sz="5253"/>
            </a:lvl6pPr>
            <a:lvl7pPr marL="14410578" indent="0">
              <a:buNone/>
              <a:defRPr sz="5253"/>
            </a:lvl7pPr>
            <a:lvl8pPr marL="16812341" indent="0">
              <a:buNone/>
              <a:defRPr sz="5253"/>
            </a:lvl8pPr>
            <a:lvl9pPr marL="19214104" indent="0">
              <a:buNone/>
              <a:defRPr sz="525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C37C9-BDD3-4AFC-B1DB-52FFBE625B5E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BD779-C492-4EC7-ABC5-D97A09794B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586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C37C9-BDD3-4AFC-B1DB-52FFBE625B5E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BD779-C492-4EC7-ABC5-D97A09794B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8820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644583" y="1918090"/>
            <a:ext cx="11041380" cy="30530984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20443" y="1918090"/>
            <a:ext cx="32484060" cy="3053098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C37C9-BDD3-4AFC-B1DB-52FFBE625B5E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BD779-C492-4EC7-ABC5-D97A09794B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989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20440" y="1918097"/>
            <a:ext cx="44165520" cy="69635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0440" y="9590448"/>
            <a:ext cx="44165520" cy="228586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20440" y="33391444"/>
            <a:ext cx="11521440" cy="19180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8C37C9-BDD3-4AFC-B1DB-52FFBE625B5E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62120" y="33391444"/>
            <a:ext cx="17282160" cy="19180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3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164520" y="33391444"/>
            <a:ext cx="11521440" cy="19180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3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2BD779-C492-4EC7-ABC5-D97A09794B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743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803526" rtl="0" eaLnBrk="1" latinLnBrk="0" hangingPunct="1">
        <a:lnSpc>
          <a:spcPct val="90000"/>
        </a:lnSpc>
        <a:spcBef>
          <a:spcPct val="0"/>
        </a:spcBef>
        <a:buNone/>
        <a:defRPr sz="2311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0882" indent="-1200882" algn="l" defTabSz="4803526" rtl="0" eaLnBrk="1" latinLnBrk="0" hangingPunct="1">
        <a:lnSpc>
          <a:spcPct val="90000"/>
        </a:lnSpc>
        <a:spcBef>
          <a:spcPts val="5253"/>
        </a:spcBef>
        <a:buFont typeface="Arial" panose="020B0604020202020204" pitchFamily="34" charset="0"/>
        <a:buChar char="•"/>
        <a:defRPr sz="14709" kern="1200">
          <a:solidFill>
            <a:schemeClr val="tx1"/>
          </a:solidFill>
          <a:latin typeface="+mn-lt"/>
          <a:ea typeface="+mn-ea"/>
          <a:cs typeface="+mn-cs"/>
        </a:defRPr>
      </a:lvl1pPr>
      <a:lvl2pPr marL="3602645" indent="-1200882" algn="l" defTabSz="4803526" rtl="0" eaLnBrk="1" latinLnBrk="0" hangingPunct="1">
        <a:lnSpc>
          <a:spcPct val="90000"/>
        </a:lnSpc>
        <a:spcBef>
          <a:spcPts val="2627"/>
        </a:spcBef>
        <a:buFont typeface="Arial" panose="020B0604020202020204" pitchFamily="34" charset="0"/>
        <a:buChar char="•"/>
        <a:defRPr sz="12608" kern="1200">
          <a:solidFill>
            <a:schemeClr val="tx1"/>
          </a:solidFill>
          <a:latin typeface="+mn-lt"/>
          <a:ea typeface="+mn-ea"/>
          <a:cs typeface="+mn-cs"/>
        </a:defRPr>
      </a:lvl2pPr>
      <a:lvl3pPr marL="6004408" indent="-1200882" algn="l" defTabSz="4803526" rtl="0" eaLnBrk="1" latinLnBrk="0" hangingPunct="1">
        <a:lnSpc>
          <a:spcPct val="90000"/>
        </a:lnSpc>
        <a:spcBef>
          <a:spcPts val="2627"/>
        </a:spcBef>
        <a:buFont typeface="Arial" panose="020B0604020202020204" pitchFamily="34" charset="0"/>
        <a:buChar char="•"/>
        <a:defRPr sz="10506" kern="1200">
          <a:solidFill>
            <a:schemeClr val="tx1"/>
          </a:solidFill>
          <a:latin typeface="+mn-lt"/>
          <a:ea typeface="+mn-ea"/>
          <a:cs typeface="+mn-cs"/>
        </a:defRPr>
      </a:lvl3pPr>
      <a:lvl4pPr marL="8406171" indent="-1200882" algn="l" defTabSz="4803526" rtl="0" eaLnBrk="1" latinLnBrk="0" hangingPunct="1">
        <a:lnSpc>
          <a:spcPct val="90000"/>
        </a:lnSpc>
        <a:spcBef>
          <a:spcPts val="2627"/>
        </a:spcBef>
        <a:buFont typeface="Arial" panose="020B0604020202020204" pitchFamily="34" charset="0"/>
        <a:buChar char="•"/>
        <a:defRPr sz="9456" kern="1200">
          <a:solidFill>
            <a:schemeClr val="tx1"/>
          </a:solidFill>
          <a:latin typeface="+mn-lt"/>
          <a:ea typeface="+mn-ea"/>
          <a:cs typeface="+mn-cs"/>
        </a:defRPr>
      </a:lvl4pPr>
      <a:lvl5pPr marL="10807934" indent="-1200882" algn="l" defTabSz="4803526" rtl="0" eaLnBrk="1" latinLnBrk="0" hangingPunct="1">
        <a:lnSpc>
          <a:spcPct val="90000"/>
        </a:lnSpc>
        <a:spcBef>
          <a:spcPts val="2627"/>
        </a:spcBef>
        <a:buFont typeface="Arial" panose="020B0604020202020204" pitchFamily="34" charset="0"/>
        <a:buChar char="•"/>
        <a:defRPr sz="9456" kern="1200">
          <a:solidFill>
            <a:schemeClr val="tx1"/>
          </a:solidFill>
          <a:latin typeface="+mn-lt"/>
          <a:ea typeface="+mn-ea"/>
          <a:cs typeface="+mn-cs"/>
        </a:defRPr>
      </a:lvl5pPr>
      <a:lvl6pPr marL="13209697" indent="-1200882" algn="l" defTabSz="4803526" rtl="0" eaLnBrk="1" latinLnBrk="0" hangingPunct="1">
        <a:lnSpc>
          <a:spcPct val="90000"/>
        </a:lnSpc>
        <a:spcBef>
          <a:spcPts val="2627"/>
        </a:spcBef>
        <a:buFont typeface="Arial" panose="020B0604020202020204" pitchFamily="34" charset="0"/>
        <a:buChar char="•"/>
        <a:defRPr sz="9456" kern="1200">
          <a:solidFill>
            <a:schemeClr val="tx1"/>
          </a:solidFill>
          <a:latin typeface="+mn-lt"/>
          <a:ea typeface="+mn-ea"/>
          <a:cs typeface="+mn-cs"/>
        </a:defRPr>
      </a:lvl6pPr>
      <a:lvl7pPr marL="15611460" indent="-1200882" algn="l" defTabSz="4803526" rtl="0" eaLnBrk="1" latinLnBrk="0" hangingPunct="1">
        <a:lnSpc>
          <a:spcPct val="90000"/>
        </a:lnSpc>
        <a:spcBef>
          <a:spcPts val="2627"/>
        </a:spcBef>
        <a:buFont typeface="Arial" panose="020B0604020202020204" pitchFamily="34" charset="0"/>
        <a:buChar char="•"/>
        <a:defRPr sz="9456" kern="1200">
          <a:solidFill>
            <a:schemeClr val="tx1"/>
          </a:solidFill>
          <a:latin typeface="+mn-lt"/>
          <a:ea typeface="+mn-ea"/>
          <a:cs typeface="+mn-cs"/>
        </a:defRPr>
      </a:lvl7pPr>
      <a:lvl8pPr marL="18013223" indent="-1200882" algn="l" defTabSz="4803526" rtl="0" eaLnBrk="1" latinLnBrk="0" hangingPunct="1">
        <a:lnSpc>
          <a:spcPct val="90000"/>
        </a:lnSpc>
        <a:spcBef>
          <a:spcPts val="2627"/>
        </a:spcBef>
        <a:buFont typeface="Arial" panose="020B0604020202020204" pitchFamily="34" charset="0"/>
        <a:buChar char="•"/>
        <a:defRPr sz="9456" kern="1200">
          <a:solidFill>
            <a:schemeClr val="tx1"/>
          </a:solidFill>
          <a:latin typeface="+mn-lt"/>
          <a:ea typeface="+mn-ea"/>
          <a:cs typeface="+mn-cs"/>
        </a:defRPr>
      </a:lvl8pPr>
      <a:lvl9pPr marL="20414986" indent="-1200882" algn="l" defTabSz="4803526" rtl="0" eaLnBrk="1" latinLnBrk="0" hangingPunct="1">
        <a:lnSpc>
          <a:spcPct val="90000"/>
        </a:lnSpc>
        <a:spcBef>
          <a:spcPts val="2627"/>
        </a:spcBef>
        <a:buFont typeface="Arial" panose="020B0604020202020204" pitchFamily="34" charset="0"/>
        <a:buChar char="•"/>
        <a:defRPr sz="945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03526" rtl="0" eaLnBrk="1" latinLnBrk="0" hangingPunct="1">
        <a:defRPr sz="9456" kern="1200">
          <a:solidFill>
            <a:schemeClr val="tx1"/>
          </a:solidFill>
          <a:latin typeface="+mn-lt"/>
          <a:ea typeface="+mn-ea"/>
          <a:cs typeface="+mn-cs"/>
        </a:defRPr>
      </a:lvl1pPr>
      <a:lvl2pPr marL="2401763" algn="l" defTabSz="4803526" rtl="0" eaLnBrk="1" latinLnBrk="0" hangingPunct="1">
        <a:defRPr sz="9456" kern="1200">
          <a:solidFill>
            <a:schemeClr val="tx1"/>
          </a:solidFill>
          <a:latin typeface="+mn-lt"/>
          <a:ea typeface="+mn-ea"/>
          <a:cs typeface="+mn-cs"/>
        </a:defRPr>
      </a:lvl2pPr>
      <a:lvl3pPr marL="4803526" algn="l" defTabSz="4803526" rtl="0" eaLnBrk="1" latinLnBrk="0" hangingPunct="1">
        <a:defRPr sz="9456" kern="1200">
          <a:solidFill>
            <a:schemeClr val="tx1"/>
          </a:solidFill>
          <a:latin typeface="+mn-lt"/>
          <a:ea typeface="+mn-ea"/>
          <a:cs typeface="+mn-cs"/>
        </a:defRPr>
      </a:lvl3pPr>
      <a:lvl4pPr marL="7205289" algn="l" defTabSz="4803526" rtl="0" eaLnBrk="1" latinLnBrk="0" hangingPunct="1">
        <a:defRPr sz="9456" kern="1200">
          <a:solidFill>
            <a:schemeClr val="tx1"/>
          </a:solidFill>
          <a:latin typeface="+mn-lt"/>
          <a:ea typeface="+mn-ea"/>
          <a:cs typeface="+mn-cs"/>
        </a:defRPr>
      </a:lvl4pPr>
      <a:lvl5pPr marL="9607052" algn="l" defTabSz="4803526" rtl="0" eaLnBrk="1" latinLnBrk="0" hangingPunct="1">
        <a:defRPr sz="9456" kern="1200">
          <a:solidFill>
            <a:schemeClr val="tx1"/>
          </a:solidFill>
          <a:latin typeface="+mn-lt"/>
          <a:ea typeface="+mn-ea"/>
          <a:cs typeface="+mn-cs"/>
        </a:defRPr>
      </a:lvl5pPr>
      <a:lvl6pPr marL="12008815" algn="l" defTabSz="4803526" rtl="0" eaLnBrk="1" latinLnBrk="0" hangingPunct="1">
        <a:defRPr sz="9456" kern="1200">
          <a:solidFill>
            <a:schemeClr val="tx1"/>
          </a:solidFill>
          <a:latin typeface="+mn-lt"/>
          <a:ea typeface="+mn-ea"/>
          <a:cs typeface="+mn-cs"/>
        </a:defRPr>
      </a:lvl6pPr>
      <a:lvl7pPr marL="14410578" algn="l" defTabSz="4803526" rtl="0" eaLnBrk="1" latinLnBrk="0" hangingPunct="1">
        <a:defRPr sz="9456" kern="1200">
          <a:solidFill>
            <a:schemeClr val="tx1"/>
          </a:solidFill>
          <a:latin typeface="+mn-lt"/>
          <a:ea typeface="+mn-ea"/>
          <a:cs typeface="+mn-cs"/>
        </a:defRPr>
      </a:lvl7pPr>
      <a:lvl8pPr marL="16812341" algn="l" defTabSz="4803526" rtl="0" eaLnBrk="1" latinLnBrk="0" hangingPunct="1">
        <a:defRPr sz="9456" kern="1200">
          <a:solidFill>
            <a:schemeClr val="tx1"/>
          </a:solidFill>
          <a:latin typeface="+mn-lt"/>
          <a:ea typeface="+mn-ea"/>
          <a:cs typeface="+mn-cs"/>
        </a:defRPr>
      </a:lvl8pPr>
      <a:lvl9pPr marL="19214104" algn="l" defTabSz="4803526" rtl="0" eaLnBrk="1" latinLnBrk="0" hangingPunct="1">
        <a:defRPr sz="945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3E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ángulo: esquinas redondeadas 30">
            <a:extLst>
              <a:ext uri="{FF2B5EF4-FFF2-40B4-BE49-F238E27FC236}">
                <a16:creationId xmlns:a16="http://schemas.microsoft.com/office/drawing/2014/main" id="{F53DE551-C123-42DE-89B9-08883ED77521}"/>
              </a:ext>
            </a:extLst>
          </p:cNvPr>
          <p:cNvSpPr/>
          <p:nvPr/>
        </p:nvSpPr>
        <p:spPr>
          <a:xfrm>
            <a:off x="35032950" y="25012041"/>
            <a:ext cx="15180712" cy="10089588"/>
          </a:xfrm>
          <a:prstGeom prst="roundRect">
            <a:avLst>
              <a:gd name="adj" fmla="val 7241"/>
            </a:avLst>
          </a:prstGeom>
          <a:solidFill>
            <a:srgbClr val="B3C6E7"/>
          </a:solidFill>
          <a:ln>
            <a:solidFill>
              <a:srgbClr val="B3C6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ángulo: esquinas superiores redondeadas 41">
            <a:extLst>
              <a:ext uri="{FF2B5EF4-FFF2-40B4-BE49-F238E27FC236}">
                <a16:creationId xmlns:a16="http://schemas.microsoft.com/office/drawing/2014/main" id="{9BA7D833-8DD2-41B3-B937-8E9AB76E04E2}"/>
              </a:ext>
            </a:extLst>
          </p:cNvPr>
          <p:cNvSpPr/>
          <p:nvPr/>
        </p:nvSpPr>
        <p:spPr>
          <a:xfrm>
            <a:off x="35032950" y="25012041"/>
            <a:ext cx="15180712" cy="1577228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B7977"/>
          </a:solidFill>
          <a:ln>
            <a:solidFill>
              <a:srgbClr val="2B79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617D8D1F-65AD-4596-A837-DADFCAFA4164}"/>
              </a:ext>
            </a:extLst>
          </p:cNvPr>
          <p:cNvSpPr/>
          <p:nvPr/>
        </p:nvSpPr>
        <p:spPr>
          <a:xfrm>
            <a:off x="1144136" y="25125124"/>
            <a:ext cx="33374464" cy="9976505"/>
          </a:xfrm>
          <a:prstGeom prst="roundRect">
            <a:avLst>
              <a:gd name="adj" fmla="val 7241"/>
            </a:avLst>
          </a:prstGeom>
          <a:solidFill>
            <a:srgbClr val="B3C6E7"/>
          </a:solidFill>
          <a:ln>
            <a:solidFill>
              <a:srgbClr val="B3C6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ángulo: esquinas superiores redondeadas 40">
            <a:extLst>
              <a:ext uri="{FF2B5EF4-FFF2-40B4-BE49-F238E27FC236}">
                <a16:creationId xmlns:a16="http://schemas.microsoft.com/office/drawing/2014/main" id="{0CCECB9B-991D-43E9-8FE5-E39EDEFEC326}"/>
              </a:ext>
            </a:extLst>
          </p:cNvPr>
          <p:cNvSpPr/>
          <p:nvPr/>
        </p:nvSpPr>
        <p:spPr>
          <a:xfrm>
            <a:off x="1148847" y="25026022"/>
            <a:ext cx="33369753" cy="1577228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B7977"/>
          </a:solidFill>
          <a:ln>
            <a:solidFill>
              <a:srgbClr val="2B79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ángulo: esquinas redondeadas 29">
            <a:extLst>
              <a:ext uri="{FF2B5EF4-FFF2-40B4-BE49-F238E27FC236}">
                <a16:creationId xmlns:a16="http://schemas.microsoft.com/office/drawing/2014/main" id="{B5BFD73A-34C5-43BD-AD38-85E75D18DD1E}"/>
              </a:ext>
            </a:extLst>
          </p:cNvPr>
          <p:cNvSpPr/>
          <p:nvPr/>
        </p:nvSpPr>
        <p:spPr>
          <a:xfrm>
            <a:off x="16334714" y="5835685"/>
            <a:ext cx="33889129" cy="18832732"/>
          </a:xfrm>
          <a:prstGeom prst="roundRect">
            <a:avLst>
              <a:gd name="adj" fmla="val 7241"/>
            </a:avLst>
          </a:prstGeom>
          <a:solidFill>
            <a:srgbClr val="B3C6E7"/>
          </a:solidFill>
          <a:ln>
            <a:solidFill>
              <a:srgbClr val="B3C6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ángulo: esquinas superiores redondeadas 39">
            <a:extLst>
              <a:ext uri="{FF2B5EF4-FFF2-40B4-BE49-F238E27FC236}">
                <a16:creationId xmlns:a16="http://schemas.microsoft.com/office/drawing/2014/main" id="{EF9E7E5D-289F-48D0-A1F5-87FC0F0D4B6A}"/>
              </a:ext>
            </a:extLst>
          </p:cNvPr>
          <p:cNvSpPr/>
          <p:nvPr/>
        </p:nvSpPr>
        <p:spPr>
          <a:xfrm>
            <a:off x="16351427" y="5735323"/>
            <a:ext cx="33899009" cy="1464173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B7977"/>
          </a:solidFill>
          <a:ln>
            <a:solidFill>
              <a:srgbClr val="2B79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43B73AA6-7BC5-4FA0-9C88-2C32D6B3EDA4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50000"/>
            <a:alphaModFix amt="33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466716">
            <a:off x="-7532739" y="-128522"/>
            <a:ext cx="39786833" cy="22380092"/>
          </a:xfrm>
          <a:prstGeom prst="rect">
            <a:avLst/>
          </a:prstGeom>
          <a:effectLst>
            <a:outerShdw blurRad="50800" dist="50800" dir="5400000" sx="97000" sy="97000" algn="ctr" rotWithShape="0">
              <a:srgbClr val="000000">
                <a:alpha val="24000"/>
              </a:srgbClr>
            </a:outerShdw>
          </a:effectLst>
        </p:spPr>
      </p:pic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66C08EE8-7316-4E38-A52B-C00830FFACF1}"/>
              </a:ext>
            </a:extLst>
          </p:cNvPr>
          <p:cNvSpPr/>
          <p:nvPr/>
        </p:nvSpPr>
        <p:spPr>
          <a:xfrm>
            <a:off x="1338703" y="6597229"/>
            <a:ext cx="14333735" cy="18074688"/>
          </a:xfrm>
          <a:prstGeom prst="roundRect">
            <a:avLst>
              <a:gd name="adj" fmla="val 7241"/>
            </a:avLst>
          </a:prstGeom>
          <a:solidFill>
            <a:srgbClr val="B3C6E7"/>
          </a:solidFill>
          <a:ln>
            <a:solidFill>
              <a:srgbClr val="B3C6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solidFill>
                  <a:srgbClr val="8FB7D5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9" name="Rectángulo: esquinas superiores redondeadas 38">
            <a:extLst>
              <a:ext uri="{FF2B5EF4-FFF2-40B4-BE49-F238E27FC236}">
                <a16:creationId xmlns:a16="http://schemas.microsoft.com/office/drawing/2014/main" id="{FAAA2EC0-7F62-4AF9-A517-5C033A17A555}"/>
              </a:ext>
            </a:extLst>
          </p:cNvPr>
          <p:cNvSpPr/>
          <p:nvPr/>
        </p:nvSpPr>
        <p:spPr>
          <a:xfrm>
            <a:off x="1338703" y="5674100"/>
            <a:ext cx="14333735" cy="15696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B7977"/>
          </a:solidFill>
          <a:ln>
            <a:solidFill>
              <a:srgbClr val="2B79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FE07655-30C8-4087-B11A-EE6BDB8A2CD4}"/>
              </a:ext>
            </a:extLst>
          </p:cNvPr>
          <p:cNvSpPr txBox="1"/>
          <p:nvPr/>
        </p:nvSpPr>
        <p:spPr>
          <a:xfrm>
            <a:off x="9698501" y="60705"/>
            <a:ext cx="2968630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0" dirty="0">
                <a:solidFill>
                  <a:srgbClr val="315A61"/>
                </a:solidFill>
                <a:effectLst/>
                <a:latin typeface="Britannic Bold" panose="020B0903060703020204" pitchFamily="34" charset="0"/>
                <a:ea typeface="Calibri" panose="020F0502020204030204" pitchFamily="34" charset="0"/>
              </a:rPr>
              <a:t>Understanding how big data and bias shape mollusk recording in Florida</a:t>
            </a:r>
            <a:endParaRPr lang="en-US" sz="12000" dirty="0">
              <a:solidFill>
                <a:srgbClr val="315A61"/>
              </a:solidFill>
              <a:latin typeface="Britannic Bold" panose="020B0903060703020204" pitchFamily="34" charset="0"/>
            </a:endParaRPr>
          </a:p>
        </p:txBody>
      </p:sp>
      <p:pic>
        <p:nvPicPr>
          <p:cNvPr id="6" name="Google Shape;72;p13" title="Lab_Logo.png">
            <a:extLst>
              <a:ext uri="{FF2B5EF4-FFF2-40B4-BE49-F238E27FC236}">
                <a16:creationId xmlns:a16="http://schemas.microsoft.com/office/drawing/2014/main" id="{E81DF9B5-F76C-4A54-A4B6-DF60E14FB95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13874" y="399159"/>
            <a:ext cx="4621025" cy="4727057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34F5EE88-DAC1-4A68-88AB-C9E5C17B3F43}"/>
              </a:ext>
            </a:extLst>
          </p:cNvPr>
          <p:cNvSpPr txBox="1"/>
          <p:nvPr/>
        </p:nvSpPr>
        <p:spPr>
          <a:xfrm>
            <a:off x="11966363" y="3829542"/>
            <a:ext cx="25603200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5400" dirty="0">
                <a:solidFill>
                  <a:schemeClr val="accent1">
                    <a:lumMod val="50000"/>
                  </a:schemeClr>
                </a:solidFill>
                <a:latin typeface="Bahnschrift" panose="020B0502040204020203" pitchFamily="34" charset="0"/>
              </a:rPr>
              <a:t>Oniel Alvarez</a:t>
            </a:r>
            <a:r>
              <a:rPr lang="en-US" sz="5400" baseline="30000" dirty="0">
                <a:solidFill>
                  <a:schemeClr val="accent1">
                    <a:lumMod val="50000"/>
                  </a:schemeClr>
                </a:solidFill>
                <a:latin typeface="Bahnschrift" panose="020B0502040204020203" pitchFamily="34" charset="0"/>
              </a:rPr>
              <a:t>1</a:t>
            </a:r>
            <a:r>
              <a:rPr lang="en-US" sz="5400" dirty="0">
                <a:solidFill>
                  <a:schemeClr val="accent1">
                    <a:lumMod val="50000"/>
                  </a:schemeClr>
                </a:solidFill>
                <a:latin typeface="Bahnschrift" panose="020B0502040204020203" pitchFamily="34" charset="0"/>
              </a:rPr>
              <a:t>, Brittany M. Mason</a:t>
            </a:r>
            <a:r>
              <a:rPr lang="en-US" sz="5400" baseline="30000" dirty="0">
                <a:solidFill>
                  <a:schemeClr val="accent1">
                    <a:lumMod val="50000"/>
                  </a:schemeClr>
                </a:solidFill>
                <a:latin typeface="Bahnschrift" panose="020B0502040204020203" pitchFamily="34" charset="0"/>
              </a:rPr>
              <a:t>1</a:t>
            </a:r>
            <a:r>
              <a:rPr lang="en-US" sz="5400" dirty="0">
                <a:solidFill>
                  <a:schemeClr val="accent1">
                    <a:lumMod val="50000"/>
                  </a:schemeClr>
                </a:solidFill>
                <a:latin typeface="Bahnschrift" panose="020B0502040204020203" pitchFamily="34" charset="0"/>
              </a:rPr>
              <a:t> and Corey T. Callaghan</a:t>
            </a:r>
            <a:r>
              <a:rPr lang="en-US" sz="5400" baseline="30000" dirty="0">
                <a:solidFill>
                  <a:schemeClr val="accent1">
                    <a:lumMod val="50000"/>
                  </a:schemeClr>
                </a:solidFill>
                <a:latin typeface="Bahnschrift" panose="020B0502040204020203" pitchFamily="34" charset="0"/>
              </a:rPr>
              <a:t>1</a:t>
            </a:r>
          </a:p>
          <a:p>
            <a:pPr algn="ctr"/>
            <a:r>
              <a:rPr lang="en-US" sz="3200" baseline="30000" dirty="0">
                <a:solidFill>
                  <a:srgbClr val="397624"/>
                </a:solidFill>
                <a:latin typeface="Bahnschrift Light" panose="020B0502040204020203" pitchFamily="34" charset="0"/>
              </a:rPr>
              <a:t>1</a:t>
            </a:r>
            <a:r>
              <a:rPr lang="en-US" sz="3200" dirty="0">
                <a:solidFill>
                  <a:srgbClr val="397624"/>
                </a:solidFill>
                <a:latin typeface="Bahnschrift Light" panose="020B0502040204020203" pitchFamily="34" charset="0"/>
              </a:rPr>
              <a:t>Fort Lauderdale Research and Education Center, Department of Wildlife Ecology and Conservation, University of Florida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FBD51CA-2D16-41A5-A086-86998A7357B7}"/>
              </a:ext>
            </a:extLst>
          </p:cNvPr>
          <p:cNvSpPr txBox="1"/>
          <p:nvPr/>
        </p:nvSpPr>
        <p:spPr>
          <a:xfrm>
            <a:off x="4346155" y="5810331"/>
            <a:ext cx="730868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spc="300" dirty="0">
                <a:solidFill>
                  <a:srgbClr val="FABE00"/>
                </a:solidFill>
                <a:latin typeface="Britannic Bold" panose="020B0903060703020204" pitchFamily="34" charset="0"/>
                <a:cs typeface="Helvetica" panose="020B0604020202020204" pitchFamily="34" charset="0"/>
              </a:rPr>
              <a:t>Introduction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8648127-0BCA-41E2-AF39-0A09B6DB27BE}"/>
              </a:ext>
            </a:extLst>
          </p:cNvPr>
          <p:cNvSpPr txBox="1"/>
          <p:nvPr/>
        </p:nvSpPr>
        <p:spPr>
          <a:xfrm>
            <a:off x="13051301" y="25106388"/>
            <a:ext cx="730868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spc="300" dirty="0">
                <a:solidFill>
                  <a:srgbClr val="FFC000"/>
                </a:solidFill>
                <a:latin typeface="Britannic Bold" panose="020B0903060703020204" pitchFamily="34" charset="0"/>
                <a:cs typeface="Helvetica" panose="020B0604020202020204" pitchFamily="34" charset="0"/>
              </a:rPr>
              <a:t>Methods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15768294-1A4C-43D0-B222-E2BA4B722A55}"/>
              </a:ext>
            </a:extLst>
          </p:cNvPr>
          <p:cNvSpPr txBox="1"/>
          <p:nvPr/>
        </p:nvSpPr>
        <p:spPr>
          <a:xfrm>
            <a:off x="3188987" y="18285360"/>
            <a:ext cx="106331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spc="300" dirty="0">
                <a:solidFill>
                  <a:srgbClr val="183E8A"/>
                </a:solidFill>
                <a:latin typeface="Bahnschrift" panose="020B0502040204020203" pitchFamily="34" charset="0"/>
                <a:cs typeface="Helvetica" panose="020B0604020202020204" pitchFamily="34" charset="0"/>
              </a:rPr>
              <a:t>Objectives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8BFA957-C421-40A9-A66A-B0874C2210DC}"/>
              </a:ext>
            </a:extLst>
          </p:cNvPr>
          <p:cNvSpPr txBox="1"/>
          <p:nvPr/>
        </p:nvSpPr>
        <p:spPr>
          <a:xfrm>
            <a:off x="2070898" y="7545224"/>
            <a:ext cx="12869333" cy="11418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22960" indent="-685800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4800" dirty="0">
                <a:latin typeface="Helvetica" panose="020B0604020202020204" pitchFamily="34" charset="0"/>
                <a:cs typeface="Helvetica" panose="020B0604020202020204" pitchFamily="34" charset="0"/>
              </a:rPr>
              <a:t>Biodiversity data availability has increased exponentially in the last two decades.</a:t>
            </a:r>
          </a:p>
          <a:p>
            <a:pPr marL="822960" indent="-685800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4800" dirty="0">
                <a:latin typeface="Helvetica" panose="020B0604020202020204" pitchFamily="34" charset="0"/>
                <a:cs typeface="Helvetica" panose="020B0604020202020204" pitchFamily="34" charset="0"/>
              </a:rPr>
              <a:t>Mollusks are a </a:t>
            </a:r>
            <a:r>
              <a:rPr lang="en-US" sz="4800" b="1" dirty="0">
                <a:solidFill>
                  <a:srgbClr val="183E8A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megadiverse</a:t>
            </a:r>
            <a:r>
              <a:rPr lang="en-US" sz="4800" dirty="0">
                <a:solidFill>
                  <a:srgbClr val="183E8A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4800" b="1" dirty="0">
                <a:solidFill>
                  <a:srgbClr val="183E8A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group</a:t>
            </a:r>
            <a:r>
              <a:rPr lang="en-US" sz="4800" dirty="0">
                <a:solidFill>
                  <a:srgbClr val="183E8A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sz="4800" dirty="0">
                <a:latin typeface="Helvetica" panose="020B0604020202020204" pitchFamily="34" charset="0"/>
                <a:cs typeface="Helvetica" panose="020B0604020202020204" pitchFamily="34" charset="0"/>
              </a:rPr>
              <a:t>with relevant functional and ecological importance but </a:t>
            </a:r>
            <a:r>
              <a:rPr lang="en-US" sz="4800" b="1" dirty="0">
                <a:solidFill>
                  <a:srgbClr val="183E8A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poor conservation allocations</a:t>
            </a:r>
            <a:r>
              <a:rPr lang="en-US" sz="4800" dirty="0"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  <a:p>
            <a:pPr marL="822960" indent="-685800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4800" dirty="0">
                <a:latin typeface="Helvetica" panose="020B0604020202020204" pitchFamily="34" charset="0"/>
                <a:cs typeface="Helvetica" panose="020B0604020202020204" pitchFamily="34" charset="0"/>
              </a:rPr>
              <a:t>Biodiversity big data can help us understand how biases shape where and what mollusk taxa are being recorded.</a:t>
            </a:r>
          </a:p>
          <a:p>
            <a:pPr marL="822960" indent="-685800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4800" dirty="0">
                <a:latin typeface="Helvetica" panose="020B0604020202020204" pitchFamily="34" charset="0"/>
                <a:cs typeface="Helvetica" panose="020B0604020202020204" pitchFamily="34" charset="0"/>
              </a:rPr>
              <a:t>This can help us inform on conservation strategies at different geographic scales, integrating </a:t>
            </a:r>
            <a:r>
              <a:rPr lang="en-US" sz="4800" b="1" dirty="0">
                <a:solidFill>
                  <a:srgbClr val="183E8A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communities</a:t>
            </a:r>
            <a:r>
              <a:rPr lang="en-US" sz="4800" dirty="0">
                <a:latin typeface="Helvetica" panose="020B0604020202020204" pitchFamily="34" charset="0"/>
                <a:cs typeface="Helvetica" panose="020B0604020202020204" pitchFamily="34" charset="0"/>
              </a:rPr>
              <a:t> with initiatives like </a:t>
            </a:r>
            <a:r>
              <a:rPr lang="en-US" sz="4800" b="1" dirty="0">
                <a:solidFill>
                  <a:srgbClr val="183E8A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citizen science </a:t>
            </a:r>
            <a:r>
              <a:rPr lang="en-US" sz="4800" dirty="0">
                <a:latin typeface="Helvetica" panose="020B0604020202020204" pitchFamily="34" charset="0"/>
                <a:cs typeface="Helvetica" panose="020B0604020202020204" pitchFamily="34" charset="0"/>
              </a:rPr>
              <a:t>projects.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5200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F17ACE68-B940-40DF-9D81-8F3A618B6FC4}"/>
              </a:ext>
            </a:extLst>
          </p:cNvPr>
          <p:cNvSpPr txBox="1"/>
          <p:nvPr/>
        </p:nvSpPr>
        <p:spPr>
          <a:xfrm>
            <a:off x="27267269" y="5754129"/>
            <a:ext cx="1060866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spc="300" dirty="0">
                <a:solidFill>
                  <a:srgbClr val="FFC000"/>
                </a:solidFill>
                <a:latin typeface="Britannic Bold" panose="020B0903060703020204" pitchFamily="34" charset="0"/>
                <a:cs typeface="Helvetica" panose="020B0604020202020204" pitchFamily="34" charset="0"/>
              </a:rPr>
              <a:t>Preliminary Results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14989031-017C-49DF-9A73-169754D9EC28}"/>
              </a:ext>
            </a:extLst>
          </p:cNvPr>
          <p:cNvSpPr txBox="1"/>
          <p:nvPr/>
        </p:nvSpPr>
        <p:spPr>
          <a:xfrm>
            <a:off x="38705186" y="25106387"/>
            <a:ext cx="730868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spc="300" dirty="0">
                <a:solidFill>
                  <a:srgbClr val="FFC000"/>
                </a:solidFill>
                <a:latin typeface="Britannic Bold" panose="020B0903060703020204" pitchFamily="34" charset="0"/>
                <a:cs typeface="Helvetica" panose="020B0604020202020204" pitchFamily="34" charset="0"/>
              </a:rPr>
              <a:t>Discussion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5098F763-8DF0-4134-A576-55EAE683F5AA}"/>
              </a:ext>
            </a:extLst>
          </p:cNvPr>
          <p:cNvSpPr txBox="1"/>
          <p:nvPr/>
        </p:nvSpPr>
        <p:spPr>
          <a:xfrm>
            <a:off x="2013750" y="19477515"/>
            <a:ext cx="12762040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22960" indent="-685800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4800" dirty="0">
                <a:latin typeface="Helvetica" panose="020B0604020202020204" pitchFamily="34" charset="0"/>
                <a:cs typeface="Helvetica" panose="020B0604020202020204" pitchFamily="34" charset="0"/>
              </a:rPr>
              <a:t>Analyze how Natural History Collections (NHC) &amp; Citizen Science (CS) contribute locally to mollusk recording.</a:t>
            </a:r>
          </a:p>
          <a:p>
            <a:pPr marL="822960" indent="-685800">
              <a:spcBef>
                <a:spcPts val="2400"/>
              </a:spcBef>
              <a:buFont typeface="Arial" panose="020B0604020202020204" pitchFamily="34" charset="0"/>
              <a:buChar char="•"/>
            </a:pPr>
            <a:r>
              <a:rPr lang="en-US" sz="4800" dirty="0">
                <a:latin typeface="Helvetica" panose="020B0604020202020204" pitchFamily="34" charset="0"/>
                <a:cs typeface="Helvetica" panose="020B0604020202020204" pitchFamily="34" charset="0"/>
              </a:rPr>
              <a:t>Understand how habitat accessibility and taxonomic biases shape mollusk recording in Florida. 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4800" dirty="0"/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08052526-88FC-40AE-A591-3949524169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4135" y="26067684"/>
            <a:ext cx="7260577" cy="3630289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CCDF8785-05A0-46B6-B995-4132C442AD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75232" y="28159970"/>
            <a:ext cx="2921240" cy="2921235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BDFE8526-42BE-40B8-81FB-4C2342229EEA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r="64144"/>
          <a:stretch/>
        </p:blipFill>
        <p:spPr>
          <a:xfrm>
            <a:off x="15091958" y="29354122"/>
            <a:ext cx="3026917" cy="2967876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23825D79-5EF0-4614-9BAB-F516CB26230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9779" y="29993555"/>
            <a:ext cx="7260577" cy="5134369"/>
          </a:xfrm>
          <a:prstGeom prst="rect">
            <a:avLst/>
          </a:prstGeom>
        </p:spPr>
      </p:pic>
      <p:sp>
        <p:nvSpPr>
          <p:cNvPr id="13" name="Flecha: curvada hacia arriba 12">
            <a:extLst>
              <a:ext uri="{FF2B5EF4-FFF2-40B4-BE49-F238E27FC236}">
                <a16:creationId xmlns:a16="http://schemas.microsoft.com/office/drawing/2014/main" id="{6000216E-0570-4ED2-8307-86C6FB6332B9}"/>
              </a:ext>
            </a:extLst>
          </p:cNvPr>
          <p:cNvSpPr/>
          <p:nvPr/>
        </p:nvSpPr>
        <p:spPr>
          <a:xfrm rot="5400000">
            <a:off x="1131775" y="28344581"/>
            <a:ext cx="2507145" cy="1443095"/>
          </a:xfrm>
          <a:prstGeom prst="curvedUp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42F3DEEF-60D3-42E4-8140-41E2333E2C84}"/>
              </a:ext>
            </a:extLst>
          </p:cNvPr>
          <p:cNvSpPr txBox="1"/>
          <p:nvPr/>
        </p:nvSpPr>
        <p:spPr>
          <a:xfrm>
            <a:off x="3143392" y="29647347"/>
            <a:ext cx="547096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37160">
              <a:spcBef>
                <a:spcPts val="2400"/>
              </a:spcBef>
            </a:pPr>
            <a:r>
              <a:rPr lang="en-US" sz="4800" b="1" dirty="0">
                <a:latin typeface="Helvetica" panose="020B0604020202020204" pitchFamily="34" charset="0"/>
                <a:cs typeface="Helvetica" panose="020B0604020202020204" pitchFamily="34" charset="0"/>
              </a:rPr>
              <a:t>Data acquisition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5200" b="1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E890BEB0-6EB3-42E0-BCFA-BC7D1A1CB234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78" t="10933" r="29070" b="19277"/>
          <a:stretch/>
        </p:blipFill>
        <p:spPr>
          <a:xfrm rot="11758084">
            <a:off x="4063311" y="31775280"/>
            <a:ext cx="1919144" cy="3257466"/>
          </a:xfrm>
          <a:prstGeom prst="rect">
            <a:avLst/>
          </a:prstGeom>
        </p:spPr>
      </p:pic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DB3C5234-C529-4E0F-8F21-1349717565E3}"/>
              </a:ext>
            </a:extLst>
          </p:cNvPr>
          <p:cNvSpPr/>
          <p:nvPr/>
        </p:nvSpPr>
        <p:spPr>
          <a:xfrm>
            <a:off x="8445500" y="29551992"/>
            <a:ext cx="1677503" cy="1082311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39BD0A77-F27A-4C18-8FF2-D26C8D0AD0A9}"/>
              </a:ext>
            </a:extLst>
          </p:cNvPr>
          <p:cNvSpPr txBox="1"/>
          <p:nvPr/>
        </p:nvSpPr>
        <p:spPr>
          <a:xfrm>
            <a:off x="8916798" y="31454342"/>
            <a:ext cx="508196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37160" algn="ctr"/>
            <a:r>
              <a:rPr lang="en-US" sz="4800" b="1" dirty="0">
                <a:solidFill>
                  <a:srgbClr val="0C1F4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196,166 records</a:t>
            </a:r>
          </a:p>
          <a:p>
            <a:pPr marL="137160" algn="ctr"/>
            <a:r>
              <a:rPr lang="en-US" sz="4800" b="1" dirty="0">
                <a:solidFill>
                  <a:srgbClr val="0C1F4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+</a:t>
            </a:r>
          </a:p>
          <a:p>
            <a:pPr marL="137160" algn="ctr"/>
            <a:r>
              <a:rPr lang="en-US" sz="4800" b="1" dirty="0">
                <a:solidFill>
                  <a:srgbClr val="0C1F46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3,606 species</a:t>
            </a:r>
          </a:p>
          <a:p>
            <a:pPr marL="685800" indent="-685800" algn="ctr">
              <a:buFont typeface="Arial" panose="020B0604020202020204" pitchFamily="34" charset="0"/>
              <a:buChar char="•"/>
            </a:pPr>
            <a:endParaRPr lang="en-US" sz="5200" b="1" dirty="0"/>
          </a:p>
        </p:txBody>
      </p:sp>
      <p:sp>
        <p:nvSpPr>
          <p:cNvPr id="44" name="Flecha: a la derecha 43">
            <a:extLst>
              <a:ext uri="{FF2B5EF4-FFF2-40B4-BE49-F238E27FC236}">
                <a16:creationId xmlns:a16="http://schemas.microsoft.com/office/drawing/2014/main" id="{9980C58D-F5E1-46AC-94D9-86A023B3C06C}"/>
              </a:ext>
            </a:extLst>
          </p:cNvPr>
          <p:cNvSpPr/>
          <p:nvPr/>
        </p:nvSpPr>
        <p:spPr>
          <a:xfrm rot="1578056">
            <a:off x="12922510" y="29583525"/>
            <a:ext cx="1970191" cy="1200912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B49D21D9-2BEE-49AA-8CC2-AE13CC2DA75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03658" y="29816963"/>
            <a:ext cx="5037989" cy="1877950"/>
          </a:xfrm>
          <a:prstGeom prst="rect">
            <a:avLst/>
          </a:prstGeom>
        </p:spPr>
      </p:pic>
      <p:sp>
        <p:nvSpPr>
          <p:cNvPr id="45" name="Flecha: a la derecha 44">
            <a:extLst>
              <a:ext uri="{FF2B5EF4-FFF2-40B4-BE49-F238E27FC236}">
                <a16:creationId xmlns:a16="http://schemas.microsoft.com/office/drawing/2014/main" id="{161CA797-66E6-478B-AC3B-8BDE19066FF3}"/>
              </a:ext>
            </a:extLst>
          </p:cNvPr>
          <p:cNvSpPr/>
          <p:nvPr/>
        </p:nvSpPr>
        <p:spPr>
          <a:xfrm rot="20257611">
            <a:off x="18092363" y="27975853"/>
            <a:ext cx="2421883" cy="1186560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lecha: a la derecha 46">
            <a:extLst>
              <a:ext uri="{FF2B5EF4-FFF2-40B4-BE49-F238E27FC236}">
                <a16:creationId xmlns:a16="http://schemas.microsoft.com/office/drawing/2014/main" id="{875C426F-58FC-485E-B447-D93779E066C5}"/>
              </a:ext>
            </a:extLst>
          </p:cNvPr>
          <p:cNvSpPr/>
          <p:nvPr/>
        </p:nvSpPr>
        <p:spPr>
          <a:xfrm>
            <a:off x="18434283" y="30056835"/>
            <a:ext cx="2355025" cy="1250450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CD606235-28C8-4579-A954-EFE137663D39}"/>
              </a:ext>
            </a:extLst>
          </p:cNvPr>
          <p:cNvSpPr/>
          <p:nvPr/>
        </p:nvSpPr>
        <p:spPr>
          <a:xfrm>
            <a:off x="26659707" y="29463597"/>
            <a:ext cx="7264171" cy="2438882"/>
          </a:xfrm>
          <a:prstGeom prst="roundRect">
            <a:avLst/>
          </a:prstGeom>
          <a:solidFill>
            <a:srgbClr val="389A98"/>
          </a:solidFill>
          <a:ln>
            <a:solidFill>
              <a:srgbClr val="389A9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9" name="Imagen 48">
            <a:extLst>
              <a:ext uri="{FF2B5EF4-FFF2-40B4-BE49-F238E27FC236}">
                <a16:creationId xmlns:a16="http://schemas.microsoft.com/office/drawing/2014/main" id="{615965D6-7C81-47EF-BF2C-32AD7B2430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899408" y="26836735"/>
            <a:ext cx="2408894" cy="2408890"/>
          </a:xfrm>
          <a:prstGeom prst="rect">
            <a:avLst/>
          </a:prstGeom>
        </p:spPr>
      </p:pic>
      <p:sp>
        <p:nvSpPr>
          <p:cNvPr id="36" name="CuadroTexto 35">
            <a:extLst>
              <a:ext uri="{FF2B5EF4-FFF2-40B4-BE49-F238E27FC236}">
                <a16:creationId xmlns:a16="http://schemas.microsoft.com/office/drawing/2014/main" id="{4473FEEC-6DCD-4CBE-B47C-655EE3E0455E}"/>
              </a:ext>
            </a:extLst>
          </p:cNvPr>
          <p:cNvSpPr txBox="1"/>
          <p:nvPr/>
        </p:nvSpPr>
        <p:spPr>
          <a:xfrm>
            <a:off x="26623210" y="29838429"/>
            <a:ext cx="726417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37160" algn="ctr">
              <a:spcBef>
                <a:spcPts val="2400"/>
              </a:spcBef>
            </a:pPr>
            <a:r>
              <a:rPr lang="en-US" sz="44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Habitat classification</a:t>
            </a:r>
          </a:p>
          <a:p>
            <a:pPr marL="137160" algn="ctr">
              <a:spcBef>
                <a:spcPts val="2400"/>
              </a:spcBef>
            </a:pPr>
            <a:r>
              <a:rPr lang="en-US" sz="44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Taxonomic assessment</a:t>
            </a:r>
          </a:p>
          <a:p>
            <a:pPr marL="685800" indent="-685800" algn="ctr">
              <a:buFont typeface="Arial" panose="020B0604020202020204" pitchFamily="34" charset="0"/>
              <a:buChar char="•"/>
            </a:pPr>
            <a:endParaRPr lang="en-US" sz="4800" dirty="0"/>
          </a:p>
        </p:txBody>
      </p:sp>
      <p:sp>
        <p:nvSpPr>
          <p:cNvPr id="51" name="Rectángulo: esquinas redondeadas 50">
            <a:extLst>
              <a:ext uri="{FF2B5EF4-FFF2-40B4-BE49-F238E27FC236}">
                <a16:creationId xmlns:a16="http://schemas.microsoft.com/office/drawing/2014/main" id="{03C94D14-3549-4701-A843-773367C9DF7E}"/>
              </a:ext>
            </a:extLst>
          </p:cNvPr>
          <p:cNvSpPr/>
          <p:nvPr/>
        </p:nvSpPr>
        <p:spPr>
          <a:xfrm>
            <a:off x="23822652" y="26959288"/>
            <a:ext cx="8901022" cy="2077738"/>
          </a:xfrm>
          <a:prstGeom prst="roundRect">
            <a:avLst/>
          </a:prstGeom>
          <a:solidFill>
            <a:srgbClr val="5BC9BF"/>
          </a:solidFill>
          <a:ln>
            <a:solidFill>
              <a:srgbClr val="5BC9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5792B855-0123-4196-88A9-7D5FB7AB4B32}"/>
              </a:ext>
            </a:extLst>
          </p:cNvPr>
          <p:cNvSpPr txBox="1"/>
          <p:nvPr/>
        </p:nvSpPr>
        <p:spPr>
          <a:xfrm>
            <a:off x="23670581" y="27090488"/>
            <a:ext cx="8901022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37160" algn="ctr">
              <a:spcBef>
                <a:spcPts val="2400"/>
              </a:spcBef>
            </a:pPr>
            <a:r>
              <a:rPr lang="en-US" sz="4400" b="1" dirty="0">
                <a:latin typeface="Helvetica" panose="020B0604020202020204" pitchFamily="34" charset="0"/>
                <a:cs typeface="Helvetica" panose="020B0604020202020204" pitchFamily="34" charset="0"/>
              </a:rPr>
              <a:t>Data filtering and selection</a:t>
            </a:r>
          </a:p>
          <a:p>
            <a:pPr marL="137160" algn="ctr">
              <a:spcBef>
                <a:spcPts val="2400"/>
              </a:spcBef>
            </a:pPr>
            <a:r>
              <a:rPr lang="en-US" sz="4400" b="1" dirty="0">
                <a:solidFill>
                  <a:schemeClr val="accent6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182,224 records + 3,170 species</a:t>
            </a:r>
          </a:p>
          <a:p>
            <a:pPr marL="685800" indent="-685800" algn="ctr">
              <a:buFont typeface="Arial" panose="020B0604020202020204" pitchFamily="34" charset="0"/>
              <a:buChar char="•"/>
            </a:pPr>
            <a:endParaRPr lang="en-US" sz="4800" b="1" dirty="0">
              <a:solidFill>
                <a:schemeClr val="bg1"/>
              </a:solidFill>
            </a:endParaRPr>
          </a:p>
        </p:txBody>
      </p:sp>
      <p:sp>
        <p:nvSpPr>
          <p:cNvPr id="53" name="Flecha: a la derecha 52">
            <a:extLst>
              <a:ext uri="{FF2B5EF4-FFF2-40B4-BE49-F238E27FC236}">
                <a16:creationId xmlns:a16="http://schemas.microsoft.com/office/drawing/2014/main" id="{0D80AAF6-D481-4BA4-90AC-F12577D01DD0}"/>
              </a:ext>
            </a:extLst>
          </p:cNvPr>
          <p:cNvSpPr/>
          <p:nvPr/>
        </p:nvSpPr>
        <p:spPr>
          <a:xfrm rot="1319884">
            <a:off x="18049685" y="32195832"/>
            <a:ext cx="2421883" cy="1186560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5" name="Conector recto 54">
            <a:extLst>
              <a:ext uri="{FF2B5EF4-FFF2-40B4-BE49-F238E27FC236}">
                <a16:creationId xmlns:a16="http://schemas.microsoft.com/office/drawing/2014/main" id="{0475BEA8-4419-452E-9B03-994077C402A3}"/>
              </a:ext>
            </a:extLst>
          </p:cNvPr>
          <p:cNvCxnSpPr>
            <a:cxnSpLocks/>
          </p:cNvCxnSpPr>
          <p:nvPr/>
        </p:nvCxnSpPr>
        <p:spPr>
          <a:xfrm>
            <a:off x="20998858" y="32042100"/>
            <a:ext cx="0" cy="2472829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ángulo 60">
            <a:extLst>
              <a:ext uri="{FF2B5EF4-FFF2-40B4-BE49-F238E27FC236}">
                <a16:creationId xmlns:a16="http://schemas.microsoft.com/office/drawing/2014/main" id="{9FDDB6D1-0B5D-4CF1-A4F9-B1CD664239E1}"/>
              </a:ext>
            </a:extLst>
          </p:cNvPr>
          <p:cNvSpPr/>
          <p:nvPr/>
        </p:nvSpPr>
        <p:spPr>
          <a:xfrm>
            <a:off x="22383750" y="32834580"/>
            <a:ext cx="464820" cy="1677618"/>
          </a:xfrm>
          <a:prstGeom prst="rect">
            <a:avLst/>
          </a:prstGeom>
          <a:solidFill>
            <a:srgbClr val="00BEC4"/>
          </a:solidFill>
          <a:ln>
            <a:solidFill>
              <a:srgbClr val="183E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ángulo 59">
            <a:extLst>
              <a:ext uri="{FF2B5EF4-FFF2-40B4-BE49-F238E27FC236}">
                <a16:creationId xmlns:a16="http://schemas.microsoft.com/office/drawing/2014/main" id="{419AD72D-176A-4A7F-9888-1AF65434438F}"/>
              </a:ext>
            </a:extLst>
          </p:cNvPr>
          <p:cNvSpPr/>
          <p:nvPr/>
        </p:nvSpPr>
        <p:spPr>
          <a:xfrm>
            <a:off x="21440775" y="32547707"/>
            <a:ext cx="464820" cy="1957659"/>
          </a:xfrm>
          <a:prstGeom prst="rect">
            <a:avLst/>
          </a:prstGeom>
          <a:solidFill>
            <a:srgbClr val="5EAF02"/>
          </a:solidFill>
          <a:ln>
            <a:solidFill>
              <a:srgbClr val="183E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720633BC-654C-4383-BE48-BB4A3B808B23}"/>
              </a:ext>
            </a:extLst>
          </p:cNvPr>
          <p:cNvSpPr/>
          <p:nvPr/>
        </p:nvSpPr>
        <p:spPr>
          <a:xfrm>
            <a:off x="23376255" y="33439440"/>
            <a:ext cx="464820" cy="1065926"/>
          </a:xfrm>
          <a:prstGeom prst="rect">
            <a:avLst/>
          </a:prstGeom>
          <a:solidFill>
            <a:srgbClr val="F8766D"/>
          </a:solidFill>
          <a:ln>
            <a:solidFill>
              <a:srgbClr val="183E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24720D07-8A18-424D-ABB8-700F08A2E4F4}"/>
              </a:ext>
            </a:extLst>
          </p:cNvPr>
          <p:cNvSpPr/>
          <p:nvPr/>
        </p:nvSpPr>
        <p:spPr>
          <a:xfrm>
            <a:off x="24368760" y="33792788"/>
            <a:ext cx="464820" cy="721354"/>
          </a:xfrm>
          <a:prstGeom prst="rect">
            <a:avLst/>
          </a:prstGeom>
          <a:solidFill>
            <a:srgbClr val="DC77FF"/>
          </a:solidFill>
          <a:ln>
            <a:solidFill>
              <a:srgbClr val="183E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4A9603C0-1ED1-44AE-9974-7DA3D3DADACD}"/>
              </a:ext>
            </a:extLst>
          </p:cNvPr>
          <p:cNvCxnSpPr>
            <a:cxnSpLocks/>
          </p:cNvCxnSpPr>
          <p:nvPr/>
        </p:nvCxnSpPr>
        <p:spPr>
          <a:xfrm flipH="1" flipV="1">
            <a:off x="20983806" y="34512199"/>
            <a:ext cx="4314594" cy="2730"/>
          </a:xfrm>
          <a:prstGeom prst="line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ángulo: esquinas redondeadas 63">
            <a:extLst>
              <a:ext uri="{FF2B5EF4-FFF2-40B4-BE49-F238E27FC236}">
                <a16:creationId xmlns:a16="http://schemas.microsoft.com/office/drawing/2014/main" id="{AA64769D-00D5-4DBD-8922-11C428CB463F}"/>
              </a:ext>
            </a:extLst>
          </p:cNvPr>
          <p:cNvSpPr/>
          <p:nvPr/>
        </p:nvSpPr>
        <p:spPr>
          <a:xfrm>
            <a:off x="25728395" y="32275441"/>
            <a:ext cx="7264171" cy="2438882"/>
          </a:xfrm>
          <a:prstGeom prst="roundRect">
            <a:avLst/>
          </a:prstGeom>
          <a:solidFill>
            <a:srgbClr val="266866"/>
          </a:solidFill>
          <a:ln>
            <a:solidFill>
              <a:srgbClr val="2668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66E3E08C-6075-4D93-95BB-ACCDA3405007}"/>
              </a:ext>
            </a:extLst>
          </p:cNvPr>
          <p:cNvSpPr txBox="1"/>
          <p:nvPr/>
        </p:nvSpPr>
        <p:spPr>
          <a:xfrm>
            <a:off x="25668721" y="32425788"/>
            <a:ext cx="726417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37160" algn="ctr">
              <a:spcBef>
                <a:spcPts val="2400"/>
              </a:spcBef>
            </a:pPr>
            <a:r>
              <a:rPr lang="en-US" sz="4400" b="1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Source, recording, taxonomic and distribution bias analysis</a:t>
            </a:r>
          </a:p>
          <a:p>
            <a:pPr marL="685800" indent="-685800" algn="ctr">
              <a:buFont typeface="Arial" panose="020B0604020202020204" pitchFamily="34" charset="0"/>
              <a:buChar char="•"/>
            </a:pPr>
            <a:endParaRPr lang="en-US" sz="4800" dirty="0"/>
          </a:p>
        </p:txBody>
      </p:sp>
      <p:pic>
        <p:nvPicPr>
          <p:cNvPr id="69" name="Imagen 68">
            <a:extLst>
              <a:ext uri="{FF2B5EF4-FFF2-40B4-BE49-F238E27FC236}">
                <a16:creationId xmlns:a16="http://schemas.microsoft.com/office/drawing/2014/main" id="{A5DA3547-6B9B-4E8F-916E-1C401EA3A56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127974" y="31020630"/>
            <a:ext cx="3762463" cy="2744687"/>
          </a:xfrm>
          <a:prstGeom prst="rect">
            <a:avLst/>
          </a:prstGeom>
        </p:spPr>
      </p:pic>
      <p:sp>
        <p:nvSpPr>
          <p:cNvPr id="70" name="CuadroTexto 69">
            <a:extLst>
              <a:ext uri="{FF2B5EF4-FFF2-40B4-BE49-F238E27FC236}">
                <a16:creationId xmlns:a16="http://schemas.microsoft.com/office/drawing/2014/main" id="{6D55537D-7610-439A-9E6D-14EF7577051E}"/>
              </a:ext>
            </a:extLst>
          </p:cNvPr>
          <p:cNvSpPr txBox="1"/>
          <p:nvPr/>
        </p:nvSpPr>
        <p:spPr>
          <a:xfrm>
            <a:off x="1338702" y="35139729"/>
            <a:ext cx="1155777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37160">
              <a:spcBef>
                <a:spcPts val="2400"/>
              </a:spcBef>
            </a:pPr>
            <a:r>
              <a:rPr lang="en-US" sz="2000" b="1" dirty="0">
                <a:latin typeface="Helvetica" panose="020B0604020202020204" pitchFamily="34" charset="0"/>
                <a:cs typeface="Helvetica" panose="020B0604020202020204" pitchFamily="34" charset="0"/>
              </a:rPr>
              <a:t>Mollusk photos: </a:t>
            </a:r>
            <a:r>
              <a:rPr lang="en-US" sz="2000" dirty="0"/>
              <a:t>©</a:t>
            </a:r>
            <a:r>
              <a:rPr lang="en-US" sz="2000" b="0" i="0" dirty="0" err="1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ggiribet</a:t>
            </a:r>
            <a:r>
              <a:rPr lang="en-US" sz="2000" dirty="0">
                <a:solidFill>
                  <a:srgbClr val="000000"/>
                </a:solidFill>
                <a:latin typeface="Lato" panose="020F0502020204030203" pitchFamily="34" charset="0"/>
              </a:rPr>
              <a:t> / </a:t>
            </a:r>
            <a:r>
              <a:rPr lang="en-US" sz="2000" dirty="0"/>
              <a:t>© </a:t>
            </a:r>
            <a:r>
              <a:rPr lang="en-US" sz="2000" dirty="0" err="1">
                <a:solidFill>
                  <a:srgbClr val="000000"/>
                </a:solidFill>
                <a:latin typeface="Lato" panose="020F0502020204030203" pitchFamily="34" charset="0"/>
              </a:rPr>
              <a:t>daniel_e</a:t>
            </a:r>
            <a:endParaRPr lang="en-US" sz="20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  <p:sp>
        <p:nvSpPr>
          <p:cNvPr id="3" name="Rectángulo: esquinas superiores redondeadas 2">
            <a:extLst>
              <a:ext uri="{FF2B5EF4-FFF2-40B4-BE49-F238E27FC236}">
                <a16:creationId xmlns:a16="http://schemas.microsoft.com/office/drawing/2014/main" id="{935EB8D1-E595-4A31-96C2-8DCAC1A2D3DC}"/>
              </a:ext>
            </a:extLst>
          </p:cNvPr>
          <p:cNvSpPr/>
          <p:nvPr/>
        </p:nvSpPr>
        <p:spPr>
          <a:xfrm rot="10800000">
            <a:off x="16676217" y="7227915"/>
            <a:ext cx="33191480" cy="17032394"/>
          </a:xfrm>
          <a:prstGeom prst="round2SameRect">
            <a:avLst>
              <a:gd name="adj1" fmla="val 8630"/>
              <a:gd name="adj2" fmla="val 0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ángulo: esquinas redondeadas 72">
            <a:extLst>
              <a:ext uri="{FF2B5EF4-FFF2-40B4-BE49-F238E27FC236}">
                <a16:creationId xmlns:a16="http://schemas.microsoft.com/office/drawing/2014/main" id="{33D031FE-7564-40EC-B7DF-AF9B5E27EC68}"/>
              </a:ext>
            </a:extLst>
          </p:cNvPr>
          <p:cNvSpPr/>
          <p:nvPr/>
        </p:nvSpPr>
        <p:spPr>
          <a:xfrm>
            <a:off x="17143657" y="7488735"/>
            <a:ext cx="12739866" cy="2226159"/>
          </a:xfrm>
          <a:prstGeom prst="roundRect">
            <a:avLst/>
          </a:prstGeom>
          <a:solidFill>
            <a:srgbClr val="8BD9D2"/>
          </a:solidFill>
          <a:ln>
            <a:solidFill>
              <a:srgbClr val="8BD9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Rectángulo: esquinas redondeadas 73">
            <a:extLst>
              <a:ext uri="{FF2B5EF4-FFF2-40B4-BE49-F238E27FC236}">
                <a16:creationId xmlns:a16="http://schemas.microsoft.com/office/drawing/2014/main" id="{5DD56B0D-39EC-4D4A-A873-E970E5D78237}"/>
              </a:ext>
            </a:extLst>
          </p:cNvPr>
          <p:cNvSpPr/>
          <p:nvPr/>
        </p:nvSpPr>
        <p:spPr>
          <a:xfrm>
            <a:off x="30136772" y="7412535"/>
            <a:ext cx="19363376" cy="2307651"/>
          </a:xfrm>
          <a:prstGeom prst="roundRect">
            <a:avLst/>
          </a:prstGeom>
          <a:solidFill>
            <a:srgbClr val="8BD9D2"/>
          </a:solidFill>
          <a:ln>
            <a:solidFill>
              <a:srgbClr val="8BD9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B4927FAF-EE48-4E2A-A08F-6AFDB699C65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59261" y="10844841"/>
            <a:ext cx="9773696" cy="13121880"/>
          </a:xfrm>
          <a:prstGeom prst="rect">
            <a:avLst/>
          </a:prstGeom>
        </p:spPr>
      </p:pic>
      <p:sp>
        <p:nvSpPr>
          <p:cNvPr id="57" name="CuadroTexto 56">
            <a:extLst>
              <a:ext uri="{FF2B5EF4-FFF2-40B4-BE49-F238E27FC236}">
                <a16:creationId xmlns:a16="http://schemas.microsoft.com/office/drawing/2014/main" id="{FCBC28FA-BE2B-4C78-9A62-5BEFE97D7E55}"/>
              </a:ext>
            </a:extLst>
          </p:cNvPr>
          <p:cNvSpPr txBox="1"/>
          <p:nvPr/>
        </p:nvSpPr>
        <p:spPr>
          <a:xfrm>
            <a:off x="16939092" y="7625404"/>
            <a:ext cx="13107906" cy="1824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000" b="1" dirty="0">
                <a:latin typeface="Helvetica" panose="020B0604020202020204" pitchFamily="34" charset="0"/>
                <a:cs typeface="Helvetica" panose="020B0604020202020204" pitchFamily="34" charset="0"/>
              </a:rPr>
              <a:t>123,430</a:t>
            </a:r>
            <a:r>
              <a:rPr lang="en-US" sz="4000" dirty="0">
                <a:latin typeface="Helvetica" panose="020B0604020202020204" pitchFamily="34" charset="0"/>
                <a:cs typeface="Helvetica" panose="020B0604020202020204" pitchFamily="34" charset="0"/>
              </a:rPr>
              <a:t> NHC records &amp; </a:t>
            </a:r>
            <a:r>
              <a:rPr lang="en-US" sz="4000" b="1" dirty="0">
                <a:latin typeface="Helvetica" panose="020B0604020202020204" pitchFamily="34" charset="0"/>
                <a:cs typeface="Helvetica" panose="020B0604020202020204" pitchFamily="34" charset="0"/>
              </a:rPr>
              <a:t>3,060</a:t>
            </a:r>
            <a:r>
              <a:rPr lang="en-US" sz="4000" dirty="0">
                <a:latin typeface="Helvetica" panose="020B0604020202020204" pitchFamily="34" charset="0"/>
                <a:cs typeface="Helvetica" panose="020B0604020202020204" pitchFamily="34" charset="0"/>
              </a:rPr>
              <a:t> species (</a:t>
            </a:r>
            <a:r>
              <a:rPr lang="en-US" sz="4000" b="1" dirty="0">
                <a:latin typeface="Helvetica" panose="020B0604020202020204" pitchFamily="34" charset="0"/>
                <a:cs typeface="Helvetica" panose="020B0604020202020204" pitchFamily="34" charset="0"/>
              </a:rPr>
              <a:t>2384</a:t>
            </a:r>
            <a:r>
              <a:rPr lang="en-US" sz="4000" dirty="0">
                <a:latin typeface="Helvetica" panose="020B0604020202020204" pitchFamily="34" charset="0"/>
                <a:cs typeface="Helvetica" panose="020B0604020202020204" pitchFamily="34" charset="0"/>
              </a:rPr>
              <a:t> unique)</a:t>
            </a:r>
          </a:p>
          <a:p>
            <a:pPr algn="ctr">
              <a:lnSpc>
                <a:spcPct val="150000"/>
              </a:lnSpc>
            </a:pPr>
            <a:r>
              <a:rPr lang="en-US" sz="4000" b="1" dirty="0">
                <a:latin typeface="Helvetica" panose="020B0604020202020204" pitchFamily="34" charset="0"/>
                <a:cs typeface="Helvetica" panose="020B0604020202020204" pitchFamily="34" charset="0"/>
              </a:rPr>
              <a:t>58,794</a:t>
            </a:r>
            <a:r>
              <a:rPr lang="en-US" sz="4000" dirty="0">
                <a:latin typeface="Helvetica" panose="020B0604020202020204" pitchFamily="34" charset="0"/>
                <a:cs typeface="Helvetica" panose="020B0604020202020204" pitchFamily="34" charset="0"/>
              </a:rPr>
              <a:t> CS observations &amp; </a:t>
            </a:r>
            <a:r>
              <a:rPr lang="en-US" sz="4000" b="1" dirty="0">
                <a:latin typeface="Helvetica" panose="020B0604020202020204" pitchFamily="34" charset="0"/>
                <a:cs typeface="Helvetica" panose="020B0604020202020204" pitchFamily="34" charset="0"/>
              </a:rPr>
              <a:t>786</a:t>
            </a:r>
            <a:r>
              <a:rPr lang="en-US" sz="4000" dirty="0">
                <a:latin typeface="Helvetica" panose="020B0604020202020204" pitchFamily="34" charset="0"/>
                <a:cs typeface="Helvetica" panose="020B0604020202020204" pitchFamily="34" charset="0"/>
              </a:rPr>
              <a:t> species (</a:t>
            </a:r>
            <a:r>
              <a:rPr lang="en-US" sz="4000" b="1" dirty="0">
                <a:latin typeface="Helvetica" panose="020B0604020202020204" pitchFamily="34" charset="0"/>
                <a:cs typeface="Helvetica" panose="020B0604020202020204" pitchFamily="34" charset="0"/>
              </a:rPr>
              <a:t>110</a:t>
            </a:r>
            <a:r>
              <a:rPr lang="en-US" sz="4000" dirty="0">
                <a:latin typeface="Helvetica" panose="020B0604020202020204" pitchFamily="34" charset="0"/>
                <a:cs typeface="Helvetica" panose="020B0604020202020204" pitchFamily="34" charset="0"/>
              </a:rPr>
              <a:t> unique)</a:t>
            </a:r>
          </a:p>
        </p:txBody>
      </p:sp>
      <p:sp>
        <p:nvSpPr>
          <p:cNvPr id="7" name="Flecha: curvada hacia la izquierda 6">
            <a:extLst>
              <a:ext uri="{FF2B5EF4-FFF2-40B4-BE49-F238E27FC236}">
                <a16:creationId xmlns:a16="http://schemas.microsoft.com/office/drawing/2014/main" id="{F6535A61-270A-450F-85CB-EF26EFC20DE7}"/>
              </a:ext>
            </a:extLst>
          </p:cNvPr>
          <p:cNvSpPr/>
          <p:nvPr/>
        </p:nvSpPr>
        <p:spPr>
          <a:xfrm>
            <a:off x="33041734" y="27368009"/>
            <a:ext cx="784045" cy="1367335"/>
          </a:xfrm>
          <a:prstGeom prst="curvedLeft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5970E0BE-DD7F-4614-9931-04AC764AB13D}"/>
              </a:ext>
            </a:extLst>
          </p:cNvPr>
          <p:cNvSpPr txBox="1"/>
          <p:nvPr/>
        </p:nvSpPr>
        <p:spPr>
          <a:xfrm>
            <a:off x="17327726" y="10122880"/>
            <a:ext cx="8932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n>
                  <a:solidFill>
                    <a:schemeClr val="bg1">
                      <a:lumMod val="50000"/>
                    </a:schemeClr>
                  </a:solidFill>
                </a:ln>
                <a:latin typeface="Helvetica" panose="020B0604020202020204" pitchFamily="34" charset="0"/>
                <a:cs typeface="Helvetica" panose="020B0604020202020204" pitchFamily="34" charset="0"/>
              </a:rPr>
              <a:t>1</a:t>
            </a:r>
          </a:p>
        </p:txBody>
      </p:sp>
      <p:sp>
        <p:nvSpPr>
          <p:cNvPr id="46" name="Elipse 45">
            <a:extLst>
              <a:ext uri="{FF2B5EF4-FFF2-40B4-BE49-F238E27FC236}">
                <a16:creationId xmlns:a16="http://schemas.microsoft.com/office/drawing/2014/main" id="{4D3B512F-2E7F-42C5-9ACA-24EC9F882757}"/>
              </a:ext>
            </a:extLst>
          </p:cNvPr>
          <p:cNvSpPr/>
          <p:nvPr/>
        </p:nvSpPr>
        <p:spPr>
          <a:xfrm>
            <a:off x="17225025" y="10138881"/>
            <a:ext cx="689959" cy="689959"/>
          </a:xfrm>
          <a:prstGeom prst="ellipse">
            <a:avLst/>
          </a:prstGeom>
          <a:noFill/>
          <a:ln>
            <a:solidFill>
              <a:srgbClr val="2B79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6" name="Imagen 75">
            <a:extLst>
              <a:ext uri="{FF2B5EF4-FFF2-40B4-BE49-F238E27FC236}">
                <a16:creationId xmlns:a16="http://schemas.microsoft.com/office/drawing/2014/main" id="{69B62E46-3A83-400D-8BCA-DA50BD52055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1803" y="10596340"/>
            <a:ext cx="11645964" cy="11396485"/>
          </a:xfrm>
          <a:prstGeom prst="rect">
            <a:avLst/>
          </a:prstGeom>
        </p:spPr>
      </p:pic>
      <p:pic>
        <p:nvPicPr>
          <p:cNvPr id="59" name="Imagen 58">
            <a:extLst>
              <a:ext uri="{FF2B5EF4-FFF2-40B4-BE49-F238E27FC236}">
                <a16:creationId xmlns:a16="http://schemas.microsoft.com/office/drawing/2014/main" id="{400F6CF3-7EA8-4BE2-851D-0DA77822514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90446" y="1631711"/>
            <a:ext cx="7578643" cy="2520170"/>
          </a:xfrm>
          <a:prstGeom prst="rect">
            <a:avLst/>
          </a:prstGeom>
        </p:spPr>
      </p:pic>
      <p:sp>
        <p:nvSpPr>
          <p:cNvPr id="67" name="CuadroTexto 66">
            <a:extLst>
              <a:ext uri="{FF2B5EF4-FFF2-40B4-BE49-F238E27FC236}">
                <a16:creationId xmlns:a16="http://schemas.microsoft.com/office/drawing/2014/main" id="{0D33BC1B-3714-446C-870F-ADF428CB795C}"/>
              </a:ext>
            </a:extLst>
          </p:cNvPr>
          <p:cNvSpPr txBox="1"/>
          <p:nvPr/>
        </p:nvSpPr>
        <p:spPr>
          <a:xfrm>
            <a:off x="38901129" y="10092966"/>
            <a:ext cx="8932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Helvetica" panose="020B0604020202020204" pitchFamily="34" charset="0"/>
                <a:cs typeface="Helvetica" panose="020B0604020202020204" pitchFamily="34" charset="0"/>
              </a:rPr>
              <a:t>3</a:t>
            </a:r>
          </a:p>
        </p:txBody>
      </p:sp>
      <p:sp>
        <p:nvSpPr>
          <p:cNvPr id="72" name="Elipse 71">
            <a:extLst>
              <a:ext uri="{FF2B5EF4-FFF2-40B4-BE49-F238E27FC236}">
                <a16:creationId xmlns:a16="http://schemas.microsoft.com/office/drawing/2014/main" id="{A3D94F5D-A873-4CC2-8B95-4A8CDB248CB5}"/>
              </a:ext>
            </a:extLst>
          </p:cNvPr>
          <p:cNvSpPr/>
          <p:nvPr/>
        </p:nvSpPr>
        <p:spPr>
          <a:xfrm>
            <a:off x="38787213" y="10114526"/>
            <a:ext cx="689959" cy="689959"/>
          </a:xfrm>
          <a:prstGeom prst="ellipse">
            <a:avLst/>
          </a:prstGeom>
          <a:noFill/>
          <a:ln>
            <a:solidFill>
              <a:srgbClr val="2B79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CuadroTexto 77">
            <a:extLst>
              <a:ext uri="{FF2B5EF4-FFF2-40B4-BE49-F238E27FC236}">
                <a16:creationId xmlns:a16="http://schemas.microsoft.com/office/drawing/2014/main" id="{5BF55F2C-1A5D-4901-8ECE-8FF5A3F8415E}"/>
              </a:ext>
            </a:extLst>
          </p:cNvPr>
          <p:cNvSpPr txBox="1"/>
          <p:nvPr/>
        </p:nvSpPr>
        <p:spPr>
          <a:xfrm>
            <a:off x="30545216" y="7586536"/>
            <a:ext cx="1960263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Helvetica" panose="020B0604020202020204" pitchFamily="34" charset="0"/>
                <a:cs typeface="Helvetica" panose="020B0604020202020204" pitchFamily="34" charset="0"/>
              </a:rPr>
              <a:t>Contributions from the analyzed mollusk recording sources are disproportionate.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Helvetica" panose="020B0604020202020204" pitchFamily="34" charset="0"/>
                <a:cs typeface="Helvetica" panose="020B0604020202020204" pitchFamily="34" charset="0"/>
              </a:rPr>
              <a:t>There’s a relevant bias towards marine gastropod recording.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Helvetica" panose="020B0604020202020204" pitchFamily="34" charset="0"/>
                <a:cs typeface="Helvetica" panose="020B0604020202020204" pitchFamily="34" charset="0"/>
              </a:rPr>
              <a:t>Higher sampling effort in coastal and urban areas.</a:t>
            </a:r>
          </a:p>
        </p:txBody>
      </p:sp>
      <p:sp>
        <p:nvSpPr>
          <p:cNvPr id="79" name="CuadroTexto 78">
            <a:extLst>
              <a:ext uri="{FF2B5EF4-FFF2-40B4-BE49-F238E27FC236}">
                <a16:creationId xmlns:a16="http://schemas.microsoft.com/office/drawing/2014/main" id="{944E731A-CF5F-472D-84B7-78EE583AB3FA}"/>
              </a:ext>
            </a:extLst>
          </p:cNvPr>
          <p:cNvSpPr txBox="1"/>
          <p:nvPr/>
        </p:nvSpPr>
        <p:spPr>
          <a:xfrm>
            <a:off x="35548744" y="27084486"/>
            <a:ext cx="14029509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800" dirty="0">
                <a:latin typeface="Helvetica" panose="020B0604020202020204" pitchFamily="34" charset="0"/>
                <a:cs typeface="Helvetica" panose="020B0604020202020204" pitchFamily="34" charset="0"/>
              </a:rPr>
              <a:t>CS can inform on relevant aspects like invasive mollusks in Florida. These results are similar to Rosa et al. (2022).*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800" dirty="0">
                <a:latin typeface="Helvetica" panose="020B0604020202020204" pitchFamily="34" charset="0"/>
                <a:cs typeface="Helvetica" panose="020B0604020202020204" pitchFamily="34" charset="0"/>
              </a:rPr>
              <a:t>Access to habitats, and possibly beachcombing culture, plays an important role in local CS mollusk recording. While NHC professional contribution shape its recording.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800" dirty="0">
                <a:latin typeface="Helvetica" panose="020B0604020202020204" pitchFamily="34" charset="0"/>
                <a:cs typeface="Helvetica" panose="020B0604020202020204" pitchFamily="34" charset="0"/>
              </a:rPr>
              <a:t>The disproportional biases towards marine mollusk could impact future conservation analysis on mollusks from Florida.</a:t>
            </a:r>
          </a:p>
        </p:txBody>
      </p:sp>
      <p:cxnSp>
        <p:nvCxnSpPr>
          <p:cNvPr id="81" name="Conector recto 80">
            <a:extLst>
              <a:ext uri="{FF2B5EF4-FFF2-40B4-BE49-F238E27FC236}">
                <a16:creationId xmlns:a16="http://schemas.microsoft.com/office/drawing/2014/main" id="{3983BE0C-0E7D-4C11-9807-348F66EE648F}"/>
              </a:ext>
            </a:extLst>
          </p:cNvPr>
          <p:cNvCxnSpPr>
            <a:cxnSpLocks/>
          </p:cNvCxnSpPr>
          <p:nvPr/>
        </p:nvCxnSpPr>
        <p:spPr>
          <a:xfrm>
            <a:off x="27371259" y="10026289"/>
            <a:ext cx="20023" cy="11800583"/>
          </a:xfrm>
          <a:prstGeom prst="line">
            <a:avLst/>
          </a:prstGeom>
          <a:ln w="76200">
            <a:solidFill>
              <a:srgbClr val="2B79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 recto 84">
            <a:extLst>
              <a:ext uri="{FF2B5EF4-FFF2-40B4-BE49-F238E27FC236}">
                <a16:creationId xmlns:a16="http://schemas.microsoft.com/office/drawing/2014/main" id="{3C355BDE-A270-4354-A939-6DBC165F4206}"/>
              </a:ext>
            </a:extLst>
          </p:cNvPr>
          <p:cNvCxnSpPr>
            <a:cxnSpLocks/>
          </p:cNvCxnSpPr>
          <p:nvPr/>
        </p:nvCxnSpPr>
        <p:spPr>
          <a:xfrm>
            <a:off x="38229759" y="10026289"/>
            <a:ext cx="20023" cy="11800583"/>
          </a:xfrm>
          <a:prstGeom prst="line">
            <a:avLst/>
          </a:prstGeom>
          <a:ln w="76200">
            <a:solidFill>
              <a:srgbClr val="2B797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CuadroTexto 53">
            <a:extLst>
              <a:ext uri="{FF2B5EF4-FFF2-40B4-BE49-F238E27FC236}">
                <a16:creationId xmlns:a16="http://schemas.microsoft.com/office/drawing/2014/main" id="{86E6A728-494B-4A56-A876-3C18B385EB75}"/>
              </a:ext>
            </a:extLst>
          </p:cNvPr>
          <p:cNvSpPr txBox="1"/>
          <p:nvPr/>
        </p:nvSpPr>
        <p:spPr>
          <a:xfrm>
            <a:off x="27163797" y="22185971"/>
            <a:ext cx="2158134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980" b="1" dirty="0">
                <a:latin typeface="Helvetica" panose="020B0604020202020204" pitchFamily="34" charset="0"/>
                <a:cs typeface="Helvetica" panose="020B0604020202020204" pitchFamily="34" charset="0"/>
              </a:rPr>
              <a:t>Figs. 1)</a:t>
            </a:r>
            <a:r>
              <a:rPr lang="en-US" sz="2980" dirty="0">
                <a:latin typeface="Helvetica" panose="020B0604020202020204" pitchFamily="34" charset="0"/>
                <a:cs typeface="Helvetica" panose="020B0604020202020204" pitchFamily="34" charset="0"/>
              </a:rPr>
              <a:t> Relationship between the number of observations / records per species coming from citizen science and natural history collections, across habitats. Expressed as log10 (x+1).</a:t>
            </a:r>
            <a:r>
              <a:rPr lang="en-US" sz="2980" b="1" dirty="0">
                <a:latin typeface="Helvetica" panose="020B0604020202020204" pitchFamily="34" charset="0"/>
                <a:cs typeface="Helvetica" panose="020B0604020202020204" pitchFamily="34" charset="0"/>
              </a:rPr>
              <a:t> 2) </a:t>
            </a:r>
            <a:r>
              <a:rPr lang="en-US" sz="2980" dirty="0">
                <a:latin typeface="Helvetica" panose="020B0604020202020204" pitchFamily="34" charset="0"/>
                <a:cs typeface="Helvetica" panose="020B0604020202020204" pitchFamily="34" charset="0"/>
              </a:rPr>
              <a:t>Proportion difference in NHC and CS mollusk species counts for each habitat category. Proportion expressed as CS species – NHC species / Total species.</a:t>
            </a:r>
            <a:r>
              <a:rPr lang="en-US" sz="2980" b="1" dirty="0">
                <a:latin typeface="Helvetica" panose="020B0604020202020204" pitchFamily="34" charset="0"/>
                <a:cs typeface="Helvetica" panose="020B0604020202020204" pitchFamily="34" charset="0"/>
              </a:rPr>
              <a:t>3) </a:t>
            </a:r>
            <a:r>
              <a:rPr lang="en-US" sz="2980" dirty="0">
                <a:latin typeface="Helvetica" panose="020B0604020202020204" pitchFamily="34" charset="0"/>
                <a:cs typeface="Helvetica" panose="020B0604020202020204" pitchFamily="34" charset="0"/>
              </a:rPr>
              <a:t>Bivariate map representing the mollusk recording effort and bias across Florida.</a:t>
            </a:r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934AB82D-8850-4E25-989C-C3E9F398B5DB}"/>
              </a:ext>
            </a:extLst>
          </p:cNvPr>
          <p:cNvSpPr txBox="1"/>
          <p:nvPr/>
        </p:nvSpPr>
        <p:spPr>
          <a:xfrm>
            <a:off x="21227265" y="23960073"/>
            <a:ext cx="52392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Mollusk photos: Tom Kelley &amp; Turner Brockman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4ABEA7A5-E22C-4631-9EAC-01AB25DFA89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72141" y="10300714"/>
            <a:ext cx="9503627" cy="11811150"/>
          </a:xfrm>
          <a:prstGeom prst="rect">
            <a:avLst/>
          </a:prstGeom>
        </p:spPr>
      </p:pic>
      <p:sp>
        <p:nvSpPr>
          <p:cNvPr id="77" name="CuadroTexto 76">
            <a:extLst>
              <a:ext uri="{FF2B5EF4-FFF2-40B4-BE49-F238E27FC236}">
                <a16:creationId xmlns:a16="http://schemas.microsoft.com/office/drawing/2014/main" id="{7A2D244E-2F53-466C-A317-E92DA9B0F017}"/>
              </a:ext>
            </a:extLst>
          </p:cNvPr>
          <p:cNvSpPr txBox="1"/>
          <p:nvPr/>
        </p:nvSpPr>
        <p:spPr>
          <a:xfrm>
            <a:off x="27589681" y="35388487"/>
            <a:ext cx="229309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effectLst/>
              </a:rPr>
              <a:t>*Rosa, R. M., Cavallari, D. C., &amp; Salvador, R. B. (2022). iNaturalist as a tool in the study of tropical </a:t>
            </a:r>
            <a:r>
              <a:rPr lang="en-US" sz="2400" dirty="0" err="1">
                <a:effectLst/>
              </a:rPr>
              <a:t>molluscs</a:t>
            </a:r>
            <a:r>
              <a:rPr lang="en-US" sz="2400" dirty="0">
                <a:effectLst/>
              </a:rPr>
              <a:t>. </a:t>
            </a:r>
            <a:r>
              <a:rPr lang="en-US" sz="2400" i="1" dirty="0">
                <a:effectLst/>
              </a:rPr>
              <a:t>PLOS ONE</a:t>
            </a:r>
            <a:r>
              <a:rPr lang="en-US" sz="2400" dirty="0">
                <a:effectLst/>
              </a:rPr>
              <a:t>, </a:t>
            </a:r>
            <a:r>
              <a:rPr lang="en-US" sz="2400" i="1" dirty="0">
                <a:effectLst/>
              </a:rPr>
              <a:t>17</a:t>
            </a:r>
            <a:r>
              <a:rPr lang="en-US" sz="2400" dirty="0">
                <a:effectLst/>
              </a:rPr>
              <a:t>(5), e0268048. https://doi.org/10.1371/journal.pone.0268048</a:t>
            </a:r>
          </a:p>
        </p:txBody>
      </p:sp>
      <p:sp>
        <p:nvSpPr>
          <p:cNvPr id="86" name="Rectángulo: esquinas redondeadas 85">
            <a:extLst>
              <a:ext uri="{FF2B5EF4-FFF2-40B4-BE49-F238E27FC236}">
                <a16:creationId xmlns:a16="http://schemas.microsoft.com/office/drawing/2014/main" id="{A7791568-1FF6-4F3A-9821-6872A79E3DDD}"/>
              </a:ext>
            </a:extLst>
          </p:cNvPr>
          <p:cNvSpPr/>
          <p:nvPr/>
        </p:nvSpPr>
        <p:spPr>
          <a:xfrm>
            <a:off x="27013049" y="22097196"/>
            <a:ext cx="21922591" cy="1958511"/>
          </a:xfrm>
          <a:prstGeom prst="roundRect">
            <a:avLst/>
          </a:prstGeom>
          <a:noFill/>
          <a:ln w="38100">
            <a:solidFill>
              <a:srgbClr val="2B79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Elipse 70">
            <a:extLst>
              <a:ext uri="{FF2B5EF4-FFF2-40B4-BE49-F238E27FC236}">
                <a16:creationId xmlns:a16="http://schemas.microsoft.com/office/drawing/2014/main" id="{8AEBB7AA-8ABD-44FD-81D2-A81567660837}"/>
              </a:ext>
            </a:extLst>
          </p:cNvPr>
          <p:cNvSpPr/>
          <p:nvPr/>
        </p:nvSpPr>
        <p:spPr>
          <a:xfrm>
            <a:off x="27847814" y="10107921"/>
            <a:ext cx="689959" cy="689959"/>
          </a:xfrm>
          <a:prstGeom prst="ellipse">
            <a:avLst/>
          </a:prstGeom>
          <a:noFill/>
          <a:ln>
            <a:solidFill>
              <a:srgbClr val="2B797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9434BD37-ABE9-45CC-9894-8827759B5155}"/>
              </a:ext>
            </a:extLst>
          </p:cNvPr>
          <p:cNvSpPr txBox="1"/>
          <p:nvPr/>
        </p:nvSpPr>
        <p:spPr>
          <a:xfrm>
            <a:off x="27958574" y="10079257"/>
            <a:ext cx="8932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Helvetica" panose="020B0604020202020204" pitchFamily="34" charset="0"/>
                <a:cs typeface="Helvetica" panose="020B06040202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14773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2013 - 2022">
  <a:themeElements>
    <a:clrScheme name="Office Them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4708</TotalTime>
  <Words>444</Words>
  <Application>Microsoft Office PowerPoint</Application>
  <PresentationFormat>Personalizado</PresentationFormat>
  <Paragraphs>39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10" baseType="lpstr">
      <vt:lpstr>Arial</vt:lpstr>
      <vt:lpstr>Bahnschrift</vt:lpstr>
      <vt:lpstr>Bahnschrift Light</vt:lpstr>
      <vt:lpstr>Britannic Bold</vt:lpstr>
      <vt:lpstr>Calibri</vt:lpstr>
      <vt:lpstr>Calibri Light</vt:lpstr>
      <vt:lpstr>Helvetica</vt:lpstr>
      <vt:lpstr>Lato</vt:lpstr>
      <vt:lpstr>Office Theme 2013 - 2022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Lenovo</dc:creator>
  <cp:lastModifiedBy>Lenovo</cp:lastModifiedBy>
  <cp:revision>84</cp:revision>
  <dcterms:created xsi:type="dcterms:W3CDTF">2026-03-13T03:33:59Z</dcterms:created>
  <dcterms:modified xsi:type="dcterms:W3CDTF">2026-04-10T14:51:40Z</dcterms:modified>
</cp:coreProperties>
</file>